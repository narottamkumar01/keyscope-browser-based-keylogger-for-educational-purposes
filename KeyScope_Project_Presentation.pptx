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8" r:id="rId7"/>
    <p:sldId id="261" r:id="rId8"/>
    <p:sldId id="262" r:id="rId9"/>
    <p:sldId id="269" r:id="rId10"/>
    <p:sldId id="263" r:id="rId11"/>
    <p:sldId id="264" r:id="rId12"/>
    <p:sldId id="265" r:id="rId13"/>
    <p:sldId id="266" r:id="rId14"/>
    <p:sldId id="267" r:id="rId15"/>
    <p:sldId id="27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93A8714-5B38-45B8-9506-91D972247A0D}">
          <p14:sldIdLst>
            <p14:sldId id="256"/>
            <p14:sldId id="257"/>
            <p14:sldId id="258"/>
            <p14:sldId id="259"/>
            <p14:sldId id="260"/>
            <p14:sldId id="268"/>
            <p14:sldId id="261"/>
            <p14:sldId id="262"/>
            <p14:sldId id="269"/>
            <p14:sldId id="263"/>
            <p14:sldId id="264"/>
            <p14:sldId id="265"/>
            <p14:sldId id="266"/>
            <p14:sldId id="267"/>
            <p14:sldId id="27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0" d="100"/>
          <a:sy n="100" d="100"/>
        </p:scale>
        <p:origin x="1227"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32C20-6BC0-A381-2BFF-026460D6007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88A880C4-AD6E-F3C2-B498-89DA91DF69EF}"/>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B44531C-E3B1-C82A-16EC-E87DA0E7A7BA}"/>
              </a:ext>
            </a:extLst>
          </p:cNvPr>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a:extLst>
              <a:ext uri="{FF2B5EF4-FFF2-40B4-BE49-F238E27FC236}">
                <a16:creationId xmlns:a16="http://schemas.microsoft.com/office/drawing/2014/main" id="{E2B3CCBA-A180-434D-E39D-2BD26F61A3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9E724D-4E08-4A98-847C-BC9A6F5E6D5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21416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E121A-4628-1997-B426-864E76ECE0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CA918DA-7291-A5C1-DDAF-3DF679660B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41E753-2A78-3632-3D4D-2337F454C48E}"/>
              </a:ext>
            </a:extLst>
          </p:cNvPr>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a:extLst>
              <a:ext uri="{FF2B5EF4-FFF2-40B4-BE49-F238E27FC236}">
                <a16:creationId xmlns:a16="http://schemas.microsoft.com/office/drawing/2014/main" id="{3643D285-0CC9-BD03-6EFF-30266D9AF8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11840B-DECE-96B2-288B-213D02195739}"/>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0785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2FF03-B564-E940-FA11-E34B273F80F0}"/>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9259AFF-3803-19F4-CB9F-5F10B1D4053D}"/>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D2DE45-72CE-13AE-185B-F6BBD0A2AF72}"/>
              </a:ext>
            </a:extLst>
          </p:cNvPr>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a:extLst>
              <a:ext uri="{FF2B5EF4-FFF2-40B4-BE49-F238E27FC236}">
                <a16:creationId xmlns:a16="http://schemas.microsoft.com/office/drawing/2014/main" id="{FDF56D13-9C5C-6549-188A-BE83F249C3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40A426-4966-0DC6-032F-254A2B54499F}"/>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61204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21227-27C8-DE1B-2497-5E57B7030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3E9225-4195-ECA7-74A1-7EE37B1E13C6}"/>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6B882A0-A0EB-40BA-2CFA-A85A06D9BA2E}"/>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2A2A64C-C9CC-940B-0DCA-699BD065F444}"/>
              </a:ext>
            </a:extLst>
          </p:cNvPr>
          <p:cNvSpPr>
            <a:spLocks noGrp="1"/>
          </p:cNvSpPr>
          <p:nvPr>
            <p:ph type="dt" sz="half" idx="10"/>
          </p:nvPr>
        </p:nvSpPr>
        <p:spPr/>
        <p:txBody>
          <a:bodyPr/>
          <a:lstStyle/>
          <a:p>
            <a:fld id="{5BCAD085-E8A6-8845-BD4E-CB4CCA059FC4}" type="datetimeFigureOut">
              <a:rPr lang="en-US" smtClean="0"/>
              <a:t>7/24/2026</a:t>
            </a:fld>
            <a:endParaRPr lang="en-US"/>
          </a:p>
        </p:txBody>
      </p:sp>
      <p:sp>
        <p:nvSpPr>
          <p:cNvPr id="6" name="Footer Placeholder 5">
            <a:extLst>
              <a:ext uri="{FF2B5EF4-FFF2-40B4-BE49-F238E27FC236}">
                <a16:creationId xmlns:a16="http://schemas.microsoft.com/office/drawing/2014/main" id="{1509694F-2B0E-CAF0-15E7-71447F739A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B6D171-05D4-87D4-7677-EE606057D10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12238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8A21D-FFDF-09DF-D7ED-8DBB85D11365}"/>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73BA36A-4DA2-F3F3-1199-05E4DF2B4F1D}"/>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E4C3DEFF-53D5-E75D-4F36-C566E00013C3}"/>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6B2B55B-435E-2490-126A-17E0C456D6C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5AE7355D-875E-C0E9-3249-60924D2DCE77}"/>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37B6A5E-3FBB-8217-91E5-81C94E807449}"/>
              </a:ext>
            </a:extLst>
          </p:cNvPr>
          <p:cNvSpPr>
            <a:spLocks noGrp="1"/>
          </p:cNvSpPr>
          <p:nvPr>
            <p:ph type="dt" sz="half" idx="10"/>
          </p:nvPr>
        </p:nvSpPr>
        <p:spPr/>
        <p:txBody>
          <a:bodyPr/>
          <a:lstStyle/>
          <a:p>
            <a:fld id="{5BCAD085-E8A6-8845-BD4E-CB4CCA059FC4}" type="datetimeFigureOut">
              <a:rPr lang="en-US" smtClean="0"/>
              <a:t>7/24/2026</a:t>
            </a:fld>
            <a:endParaRPr lang="en-US"/>
          </a:p>
        </p:txBody>
      </p:sp>
      <p:sp>
        <p:nvSpPr>
          <p:cNvPr id="8" name="Footer Placeholder 7">
            <a:extLst>
              <a:ext uri="{FF2B5EF4-FFF2-40B4-BE49-F238E27FC236}">
                <a16:creationId xmlns:a16="http://schemas.microsoft.com/office/drawing/2014/main" id="{C520F39A-92B1-F1BB-8F3C-72F0013BFFE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B03CF7-B223-C80E-4874-116A54B57B0E}"/>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01188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35CCB-4AB2-0AEF-3DC2-EB40A9E17D1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D6676F9-332F-E2A4-134E-E56318790FDE}"/>
              </a:ext>
            </a:extLst>
          </p:cNvPr>
          <p:cNvSpPr>
            <a:spLocks noGrp="1"/>
          </p:cNvSpPr>
          <p:nvPr>
            <p:ph type="dt" sz="half" idx="10"/>
          </p:nvPr>
        </p:nvSpPr>
        <p:spPr/>
        <p:txBody>
          <a:bodyPr/>
          <a:lstStyle/>
          <a:p>
            <a:fld id="{5BCAD085-E8A6-8845-BD4E-CB4CCA059FC4}" type="datetimeFigureOut">
              <a:rPr lang="en-US" smtClean="0"/>
              <a:t>7/24/2026</a:t>
            </a:fld>
            <a:endParaRPr lang="en-US"/>
          </a:p>
        </p:txBody>
      </p:sp>
      <p:sp>
        <p:nvSpPr>
          <p:cNvPr id="4" name="Footer Placeholder 3">
            <a:extLst>
              <a:ext uri="{FF2B5EF4-FFF2-40B4-BE49-F238E27FC236}">
                <a16:creationId xmlns:a16="http://schemas.microsoft.com/office/drawing/2014/main" id="{103EBE6D-977A-9E30-2147-BB1E77C36CF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EC2B82-C51A-C10D-BD20-D6F242AE8BAF}"/>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78360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1F3716-8C70-9F5D-3E01-06ECE659B72A}"/>
              </a:ext>
            </a:extLst>
          </p:cNvPr>
          <p:cNvSpPr>
            <a:spLocks noGrp="1"/>
          </p:cNvSpPr>
          <p:nvPr>
            <p:ph type="dt" sz="half" idx="10"/>
          </p:nvPr>
        </p:nvSpPr>
        <p:spPr/>
        <p:txBody>
          <a:bodyPr/>
          <a:lstStyle/>
          <a:p>
            <a:fld id="{5BCAD085-E8A6-8845-BD4E-CB4CCA059FC4}" type="datetimeFigureOut">
              <a:rPr lang="en-US" smtClean="0"/>
              <a:t>7/24/2026</a:t>
            </a:fld>
            <a:endParaRPr lang="en-US"/>
          </a:p>
        </p:txBody>
      </p:sp>
      <p:sp>
        <p:nvSpPr>
          <p:cNvPr id="3" name="Footer Placeholder 2">
            <a:extLst>
              <a:ext uri="{FF2B5EF4-FFF2-40B4-BE49-F238E27FC236}">
                <a16:creationId xmlns:a16="http://schemas.microsoft.com/office/drawing/2014/main" id="{F2FB967D-1C81-8358-637A-3A2BB6B06B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901EBE-B1F9-CCAA-533D-97EDFB77911A}"/>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392831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CDEEA-2A31-847F-A70B-F6ED83548E49}"/>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1A4A2CA-75F4-53D9-5E3F-602CF022452C}"/>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136E15F-4E69-211D-8FAD-7067ED8320C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42E20ED-0816-830A-A4E4-955E8F9C0A1C}"/>
              </a:ext>
            </a:extLst>
          </p:cNvPr>
          <p:cNvSpPr>
            <a:spLocks noGrp="1"/>
          </p:cNvSpPr>
          <p:nvPr>
            <p:ph type="dt" sz="half" idx="10"/>
          </p:nvPr>
        </p:nvSpPr>
        <p:spPr/>
        <p:txBody>
          <a:bodyPr/>
          <a:lstStyle/>
          <a:p>
            <a:fld id="{5BCAD085-E8A6-8845-BD4E-CB4CCA059FC4}" type="datetimeFigureOut">
              <a:rPr lang="en-US" smtClean="0"/>
              <a:t>7/24/2026</a:t>
            </a:fld>
            <a:endParaRPr lang="en-US"/>
          </a:p>
        </p:txBody>
      </p:sp>
      <p:sp>
        <p:nvSpPr>
          <p:cNvPr id="6" name="Footer Placeholder 5">
            <a:extLst>
              <a:ext uri="{FF2B5EF4-FFF2-40B4-BE49-F238E27FC236}">
                <a16:creationId xmlns:a16="http://schemas.microsoft.com/office/drawing/2014/main" id="{44355ADD-C259-63EA-33C5-8B745AED11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EC3F09-66DD-5311-34D0-6B73550B42BA}"/>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07191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C983A-E637-FB47-1C0C-F5CC684AE984}"/>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D52554F-560F-FB88-44F2-80A0842D9C6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A0CC786A-7F5F-D95E-E52F-3895B52F2AA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691DC31-97AA-4FA0-F036-6CFC8E22363E}"/>
              </a:ext>
            </a:extLst>
          </p:cNvPr>
          <p:cNvSpPr>
            <a:spLocks noGrp="1"/>
          </p:cNvSpPr>
          <p:nvPr>
            <p:ph type="dt" sz="half" idx="10"/>
          </p:nvPr>
        </p:nvSpPr>
        <p:spPr/>
        <p:txBody>
          <a:bodyPr/>
          <a:lstStyle/>
          <a:p>
            <a:fld id="{5BCAD085-E8A6-8845-BD4E-CB4CCA059FC4}" type="datetimeFigureOut">
              <a:rPr lang="en-US" smtClean="0"/>
              <a:t>7/24/2026</a:t>
            </a:fld>
            <a:endParaRPr lang="en-US"/>
          </a:p>
        </p:txBody>
      </p:sp>
      <p:sp>
        <p:nvSpPr>
          <p:cNvPr id="6" name="Footer Placeholder 5">
            <a:extLst>
              <a:ext uri="{FF2B5EF4-FFF2-40B4-BE49-F238E27FC236}">
                <a16:creationId xmlns:a16="http://schemas.microsoft.com/office/drawing/2014/main" id="{7249B712-28BE-1C3B-3806-5B5FF37B6D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490E8A-EEFD-8E54-08B4-70731ECAACA3}"/>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93208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8B782-93B1-0595-AEDF-781A1F7A9ED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BB823F-53C3-BF28-9D8D-8E6D782DFB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8C7F87-3F8C-AF4D-F7A2-414F2094AE82}"/>
              </a:ext>
            </a:extLst>
          </p:cNvPr>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a:extLst>
              <a:ext uri="{FF2B5EF4-FFF2-40B4-BE49-F238E27FC236}">
                <a16:creationId xmlns:a16="http://schemas.microsoft.com/office/drawing/2014/main" id="{E0DBB1D4-1A6D-AA15-DF66-A8EC49F5F7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5E95BB-3111-9978-A5C6-82D676E546F5}"/>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90976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81E6CE-FA28-A94E-7C72-D78E845CF702}"/>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D69E4D-5EDE-3B82-3D15-986A44BCB1AB}"/>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8E67E3-7A5E-7D87-2DB3-242C4ED4A5A1}"/>
              </a:ext>
            </a:extLst>
          </p:cNvPr>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a:extLst>
              <a:ext uri="{FF2B5EF4-FFF2-40B4-BE49-F238E27FC236}">
                <a16:creationId xmlns:a16="http://schemas.microsoft.com/office/drawing/2014/main" id="{E1934998-99AF-AB7E-A22C-A51DA7614C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776B86-C651-903F-3593-46B5C771FF79}"/>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8779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43C01C-2D75-BCF8-E5E8-54F0E4923B04}"/>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5D88606-5563-A726-36BD-F66D85C6E56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B27C67-6545-75E8-CFDF-4C72FF1F1098}"/>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5BCAD085-E8A6-8845-BD4E-CB4CCA059FC4}" type="datetimeFigureOut">
              <a:rPr lang="en-US" smtClean="0"/>
              <a:t>7/24/2026</a:t>
            </a:fld>
            <a:endParaRPr lang="en-US"/>
          </a:p>
        </p:txBody>
      </p:sp>
      <p:sp>
        <p:nvSpPr>
          <p:cNvPr id="5" name="Footer Placeholder 4">
            <a:extLst>
              <a:ext uri="{FF2B5EF4-FFF2-40B4-BE49-F238E27FC236}">
                <a16:creationId xmlns:a16="http://schemas.microsoft.com/office/drawing/2014/main" id="{D670C89D-B89E-7D5C-6E1D-F11BE80FA926}"/>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B2C7237-3192-058A-2D62-F3E2B18D8EB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4303401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9067" y="0"/>
            <a:ext cx="7772400" cy="1470025"/>
          </a:xfrm>
        </p:spPr>
        <p:txBody>
          <a:bodyPr/>
          <a:lstStyle/>
          <a:p>
            <a:r>
              <a:rPr b="1" dirty="0"/>
              <a:t>KeyScope</a:t>
            </a:r>
          </a:p>
        </p:txBody>
      </p:sp>
      <p:sp>
        <p:nvSpPr>
          <p:cNvPr id="3" name="Subtitle 2"/>
          <p:cNvSpPr>
            <a:spLocks noGrp="1"/>
          </p:cNvSpPr>
          <p:nvPr>
            <p:ph type="subTitle" idx="1"/>
          </p:nvPr>
        </p:nvSpPr>
        <p:spPr>
          <a:xfrm>
            <a:off x="1295400" y="1513114"/>
            <a:ext cx="6400800" cy="1752600"/>
          </a:xfrm>
        </p:spPr>
        <p:txBody>
          <a:bodyPr>
            <a:normAutofit/>
          </a:bodyPr>
          <a:lstStyle/>
          <a:p>
            <a:r>
              <a:rPr lang="en-IN" b="1" dirty="0">
                <a:solidFill>
                  <a:schemeClr val="tx1">
                    <a:lumMod val="95000"/>
                    <a:lumOff val="5000"/>
                  </a:schemeClr>
                </a:solidFill>
              </a:rPr>
              <a:t>Real-Time Keyboard Event Monitoring &amp; Analytics Dashboard</a:t>
            </a:r>
          </a:p>
          <a:p>
            <a:r>
              <a:rPr lang="en-IN" b="1" dirty="0">
                <a:solidFill>
                  <a:schemeClr val="tx1">
                    <a:lumMod val="95000"/>
                    <a:lumOff val="5000"/>
                  </a:schemeClr>
                </a:solidFill>
              </a:rPr>
              <a:t>A Browser-Based Keyboard Event Monitoring System</a:t>
            </a:r>
            <a:endParaRPr lang="en-IN" dirty="0">
              <a:solidFill>
                <a:schemeClr val="tx1">
                  <a:lumMod val="95000"/>
                  <a:lumOff val="5000"/>
                </a:schemeClr>
              </a:solidFill>
            </a:endParaRPr>
          </a:p>
          <a:p>
            <a:pPr>
              <a:defRPr sz="2200"/>
            </a:pPr>
            <a:endParaRPr dirty="0"/>
          </a:p>
        </p:txBody>
      </p:sp>
      <p:sp>
        <p:nvSpPr>
          <p:cNvPr id="4" name="TextBox 3">
            <a:extLst>
              <a:ext uri="{FF2B5EF4-FFF2-40B4-BE49-F238E27FC236}">
                <a16:creationId xmlns:a16="http://schemas.microsoft.com/office/drawing/2014/main" id="{532C3B13-5874-AD02-6FC8-C8504B39A4F0}"/>
              </a:ext>
            </a:extLst>
          </p:cNvPr>
          <p:cNvSpPr txBox="1"/>
          <p:nvPr/>
        </p:nvSpPr>
        <p:spPr>
          <a:xfrm>
            <a:off x="696685" y="4000500"/>
            <a:ext cx="8391655" cy="2585323"/>
          </a:xfrm>
          <a:prstGeom prst="rect">
            <a:avLst/>
          </a:prstGeom>
          <a:noFill/>
        </p:spPr>
        <p:txBody>
          <a:bodyPr wrap="square" rtlCol="0">
            <a:spAutoFit/>
          </a:bodyPr>
          <a:lstStyle/>
          <a:p>
            <a:r>
              <a:rPr lang="en-IN" b="1" dirty="0"/>
              <a:t>Presented By</a:t>
            </a:r>
            <a:endParaRPr lang="en-IN" dirty="0"/>
          </a:p>
          <a:p>
            <a:r>
              <a:rPr lang="en-IN" dirty="0"/>
              <a:t>Narottam Kumar </a:t>
            </a:r>
          </a:p>
          <a:p>
            <a:r>
              <a:rPr lang="en-IN" dirty="0"/>
              <a:t>Simardeep Singh Bhatti</a:t>
            </a:r>
          </a:p>
          <a:p>
            <a:r>
              <a:rPr lang="en-IN" dirty="0"/>
              <a:t>Maroof ahmad malik</a:t>
            </a:r>
          </a:p>
          <a:p>
            <a:r>
              <a:rPr lang="en-IN" dirty="0"/>
              <a:t>Sushil Dhiman</a:t>
            </a:r>
          </a:p>
          <a:p>
            <a:endParaRPr lang="en-IN" dirty="0"/>
          </a:p>
          <a:p>
            <a:r>
              <a:rPr lang="en-IN" dirty="0"/>
              <a:t>													          Department of Cyber Security</a:t>
            </a: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Abstract</a:t>
            </a:r>
          </a:p>
        </p:txBody>
      </p:sp>
      <p:sp>
        <p:nvSpPr>
          <p:cNvPr id="3" name="Content Placeholder 2"/>
          <p:cNvSpPr>
            <a:spLocks noGrp="1"/>
          </p:cNvSpPr>
          <p:nvPr>
            <p:ph idx="1"/>
          </p:nvPr>
        </p:nvSpPr>
        <p:spPr/>
        <p:txBody>
          <a:bodyPr>
            <a:normAutofit/>
          </a:bodyPr>
          <a:lstStyle/>
          <a:p>
            <a:r>
              <a:rPr lang="en-IN" sz="2400" dirty="0"/>
              <a:t>KeyScope is a browser-based application developed to monitor and analyze keyboard events in real time. The system records keyboard interactions, calculates typing statistics, monitors modifier keys, generates event logs, and provides data export functionality. It also includes customizable keyboard sound profiles using the Web Audio API, making the application interactive and educational.</a:t>
            </a:r>
          </a:p>
          <a:p>
            <a:r>
              <a:rPr lang="en-IN" sz="2400" dirty="0"/>
              <a:t>The project demonstrates JavaScript event handling, browser APIs, and real-time data visualization while helping users understand keyboard behaviour and browser event processing.</a:t>
            </a:r>
          </a:p>
          <a:p>
            <a:pPr>
              <a:defRPr sz="2200"/>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Problem Statement</a:t>
            </a:r>
          </a:p>
        </p:txBody>
      </p:sp>
      <p:sp>
        <p:nvSpPr>
          <p:cNvPr id="3" name="Content Placeholder 2"/>
          <p:cNvSpPr>
            <a:spLocks noGrp="1"/>
          </p:cNvSpPr>
          <p:nvPr>
            <p:ph idx="1"/>
          </p:nvPr>
        </p:nvSpPr>
        <p:spPr>
          <a:xfrm>
            <a:off x="457200" y="1600200"/>
            <a:ext cx="8229600" cy="4180114"/>
          </a:xfrm>
        </p:spPr>
        <p:txBody>
          <a:bodyPr>
            <a:normAutofit/>
          </a:bodyPr>
          <a:lstStyle/>
          <a:p>
            <a:pPr>
              <a:defRPr sz="2200"/>
            </a:pPr>
            <a:r>
              <a:rPr lang="en-IN" sz="1800" dirty="0"/>
              <a:t>Most online typing tools only provide basic typing speed and accuracy statistics. They do not offer detailed keyboard analytics or real-time event monitoring.</a:t>
            </a:r>
          </a:p>
          <a:p>
            <a:pPr>
              <a:defRPr sz="2200"/>
            </a:pPr>
            <a:endParaRPr lang="en-IN" sz="1800" dirty="0"/>
          </a:p>
          <a:p>
            <a:r>
              <a:rPr lang="en-IN" sz="1800" dirty="0"/>
              <a:t>There is a need for a browser-based platform that can:</a:t>
            </a:r>
          </a:p>
          <a:p>
            <a:pPr marL="0" indent="0">
              <a:buNone/>
            </a:pPr>
            <a:r>
              <a:rPr lang="en-IN" sz="1800" dirty="0"/>
              <a:t>	Capture keyboard events in real time </a:t>
            </a:r>
          </a:p>
          <a:p>
            <a:pPr marL="0" indent="0">
              <a:buNone/>
            </a:pPr>
            <a:r>
              <a:rPr lang="en-IN" sz="1800" dirty="0"/>
              <a:t>	Analyze typing behaviour </a:t>
            </a:r>
          </a:p>
          <a:p>
            <a:pPr marL="0" indent="0">
              <a:buNone/>
            </a:pPr>
            <a:r>
              <a:rPr lang="en-IN" sz="1800" dirty="0"/>
              <a:t>	Display modifier key activity </a:t>
            </a:r>
          </a:p>
          <a:p>
            <a:pPr marL="0" indent="0">
              <a:buNone/>
            </a:pPr>
            <a:r>
              <a:rPr lang="en-IN" sz="1800" dirty="0"/>
              <a:t>	Maintain session statistics </a:t>
            </a:r>
          </a:p>
          <a:p>
            <a:pPr marL="0" indent="0">
              <a:buNone/>
            </a:pPr>
            <a:r>
              <a:rPr lang="en-IN" sz="1800" dirty="0"/>
              <a:t>	Export keyboard activity logs</a:t>
            </a:r>
          </a:p>
          <a:p>
            <a:pPr>
              <a:defRPr sz="2200"/>
            </a:pPr>
            <a:endParaRPr lang="en-IN"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Objectives</a:t>
            </a:r>
          </a:p>
        </p:txBody>
      </p:sp>
      <p:sp>
        <p:nvSpPr>
          <p:cNvPr id="3" name="Content Placeholder 2"/>
          <p:cNvSpPr>
            <a:spLocks noGrp="1"/>
          </p:cNvSpPr>
          <p:nvPr>
            <p:ph idx="1"/>
          </p:nvPr>
        </p:nvSpPr>
        <p:spPr/>
        <p:txBody>
          <a:bodyPr/>
          <a:lstStyle/>
          <a:p>
            <a:pPr>
              <a:defRPr sz="2200"/>
            </a:pPr>
            <a:r>
              <a:rPr lang="en-IN" dirty="0"/>
              <a:t>Monitor keyboard events in real time</a:t>
            </a:r>
          </a:p>
          <a:p>
            <a:pPr>
              <a:defRPr sz="2200"/>
            </a:pPr>
            <a:r>
              <a:rPr lang="en-IN" dirty="0"/>
              <a:t> Capture key press and release events</a:t>
            </a:r>
          </a:p>
          <a:p>
            <a:pPr>
              <a:defRPr sz="2200"/>
            </a:pPr>
            <a:r>
              <a:rPr lang="en-IN" dirty="0"/>
              <a:t> Display typing statistics</a:t>
            </a:r>
          </a:p>
          <a:p>
            <a:pPr>
              <a:defRPr sz="2200"/>
            </a:pPr>
            <a:r>
              <a:rPr lang="en-IN" dirty="0"/>
              <a:t> Track modifier key states</a:t>
            </a:r>
          </a:p>
          <a:p>
            <a:pPr>
              <a:defRPr sz="2200"/>
            </a:pPr>
            <a:r>
              <a:rPr lang="en-IN" dirty="0"/>
              <a:t> Generate event logs</a:t>
            </a:r>
          </a:p>
          <a:p>
            <a:pPr>
              <a:defRPr sz="2200"/>
            </a:pPr>
            <a:r>
              <a:rPr lang="en-IN" dirty="0"/>
              <a:t> Analyze key frequency</a:t>
            </a:r>
          </a:p>
          <a:p>
            <a:pPr>
              <a:defRPr sz="2200"/>
            </a:pPr>
            <a:r>
              <a:rPr lang="en-IN" dirty="0"/>
              <a:t> Export reports in multiple formats</a:t>
            </a:r>
          </a:p>
          <a:p>
            <a:pPr>
              <a:defRPr sz="2200"/>
            </a:pPr>
            <a:r>
              <a:rPr lang="en-IN" dirty="0"/>
              <a:t> Demonstrate browser event handling concepts</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Existing System</a:t>
            </a:r>
            <a:endParaRPr b="1" dirty="0"/>
          </a:p>
        </p:txBody>
      </p:sp>
      <p:sp>
        <p:nvSpPr>
          <p:cNvPr id="3" name="Content Placeholder 2"/>
          <p:cNvSpPr>
            <a:spLocks noGrp="1"/>
          </p:cNvSpPr>
          <p:nvPr>
            <p:ph idx="1"/>
          </p:nvPr>
        </p:nvSpPr>
        <p:spPr/>
        <p:txBody>
          <a:bodyPr>
            <a:normAutofit/>
          </a:bodyPr>
          <a:lstStyle/>
          <a:p>
            <a:r>
              <a:rPr lang="en-IN" dirty="0"/>
              <a:t>Current typing applications generally provide:</a:t>
            </a:r>
          </a:p>
          <a:p>
            <a:pPr marL="0" indent="0">
              <a:buNone/>
            </a:pPr>
            <a:r>
              <a:rPr lang="en-IN" dirty="0"/>
              <a:t>	Typing Speed </a:t>
            </a:r>
          </a:p>
          <a:p>
            <a:pPr marL="0" indent="0">
              <a:buNone/>
            </a:pPr>
            <a:r>
              <a:rPr lang="en-IN" dirty="0"/>
              <a:t>	WPM </a:t>
            </a:r>
          </a:p>
          <a:p>
            <a:pPr marL="0" indent="0">
              <a:buNone/>
            </a:pPr>
            <a:r>
              <a:rPr lang="en-IN" dirty="0"/>
              <a:t>	Accuracy </a:t>
            </a:r>
          </a:p>
          <a:p>
            <a:r>
              <a:rPr lang="en-IN" dirty="0"/>
              <a:t>Limitations</a:t>
            </a:r>
          </a:p>
          <a:p>
            <a:pPr marL="0" indent="0">
              <a:buNone/>
            </a:pPr>
            <a:r>
              <a:rPr lang="en-IN" dirty="0"/>
              <a:t>	No event logging </a:t>
            </a:r>
          </a:p>
          <a:p>
            <a:pPr marL="0" indent="0">
              <a:buNone/>
            </a:pPr>
            <a:r>
              <a:rPr lang="en-IN" dirty="0"/>
              <a:t>	No modifier key tracking </a:t>
            </a:r>
          </a:p>
          <a:p>
            <a:pPr marL="0" indent="0">
              <a:buNone/>
            </a:pPr>
            <a:r>
              <a:rPr lang="en-IN" dirty="0"/>
              <a:t>	No keyboard analytics </a:t>
            </a:r>
          </a:p>
          <a:p>
            <a:pPr marL="0" indent="0">
              <a:buNone/>
            </a:pPr>
            <a:r>
              <a:rPr lang="en-IN" dirty="0"/>
              <a:t>	No session management </a:t>
            </a:r>
          </a:p>
          <a:p>
            <a:pPr marL="0" indent="0">
              <a:buNone/>
            </a:pPr>
            <a:r>
              <a:rPr lang="en-IN" dirty="0"/>
              <a:t>	Limited export options </a:t>
            </a:r>
          </a:p>
          <a:p>
            <a:pPr>
              <a:defRPr sz="2200"/>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579412-9B36-1EA4-150A-30EA91E634F6}"/>
              </a:ext>
            </a:extLst>
          </p:cNvPr>
          <p:cNvSpPr txBox="1"/>
          <p:nvPr/>
        </p:nvSpPr>
        <p:spPr>
          <a:xfrm>
            <a:off x="2307771" y="391885"/>
            <a:ext cx="5878286" cy="769441"/>
          </a:xfrm>
          <a:prstGeom prst="rect">
            <a:avLst/>
          </a:prstGeom>
          <a:noFill/>
        </p:spPr>
        <p:txBody>
          <a:bodyPr wrap="square" rtlCol="0">
            <a:spAutoFit/>
          </a:bodyPr>
          <a:lstStyle/>
          <a:p>
            <a:r>
              <a:rPr lang="en-IN" sz="4400" b="1" dirty="0"/>
              <a:t>Proposed System</a:t>
            </a:r>
          </a:p>
        </p:txBody>
      </p:sp>
      <p:sp>
        <p:nvSpPr>
          <p:cNvPr id="3" name="TextBox 2">
            <a:extLst>
              <a:ext uri="{FF2B5EF4-FFF2-40B4-BE49-F238E27FC236}">
                <a16:creationId xmlns:a16="http://schemas.microsoft.com/office/drawing/2014/main" id="{D2E3AD34-2E1B-2D7A-F549-17FDCA4B90BD}"/>
              </a:ext>
            </a:extLst>
          </p:cNvPr>
          <p:cNvSpPr txBox="1"/>
          <p:nvPr/>
        </p:nvSpPr>
        <p:spPr>
          <a:xfrm>
            <a:off x="680358" y="1790700"/>
            <a:ext cx="6874328" cy="3170099"/>
          </a:xfrm>
          <a:prstGeom prst="rect">
            <a:avLst/>
          </a:prstGeom>
          <a:noFill/>
        </p:spPr>
        <p:txBody>
          <a:bodyPr wrap="square" rtlCol="0">
            <a:spAutoFit/>
          </a:bodyPr>
          <a:lstStyle/>
          <a:p>
            <a:r>
              <a:rPr lang="en-IN" sz="2000" dirty="0"/>
              <a:t>KeyScope provides:-</a:t>
            </a:r>
          </a:p>
          <a:p>
            <a:endParaRPr lang="en-IN" sz="2000" dirty="0"/>
          </a:p>
          <a:p>
            <a:r>
              <a:rPr lang="en-IN" sz="2000" dirty="0"/>
              <a:t>✔ Live Keyboard Event Monitoring</a:t>
            </a:r>
          </a:p>
          <a:p>
            <a:r>
              <a:rPr lang="en-IN" sz="2000" dirty="0"/>
              <a:t>✔ Session Management</a:t>
            </a:r>
          </a:p>
          <a:p>
            <a:r>
              <a:rPr lang="en-IN" sz="2000" dirty="0"/>
              <a:t>✔ Event Logging</a:t>
            </a:r>
          </a:p>
          <a:p>
            <a:r>
              <a:rPr lang="en-IN" sz="2000" dirty="0"/>
              <a:t>✔ Key Frequency Analysis</a:t>
            </a:r>
          </a:p>
          <a:p>
            <a:r>
              <a:rPr lang="en-IN" sz="2000" dirty="0"/>
              <a:t>✔ Modifier Key Tracking</a:t>
            </a:r>
          </a:p>
          <a:p>
            <a:r>
              <a:rPr lang="en-IN" sz="2000" dirty="0"/>
              <a:t>✔ Keyboard Sound Simulation</a:t>
            </a:r>
          </a:p>
          <a:p>
            <a:r>
              <a:rPr lang="en-IN" sz="2000" dirty="0"/>
              <a:t>✔ Export Reports</a:t>
            </a:r>
          </a:p>
          <a:p>
            <a:r>
              <a:rPr lang="en-IN" sz="2000" dirty="0"/>
              <a:t>✔ Interactive Dashboard</a:t>
            </a:r>
          </a:p>
        </p:txBody>
      </p:sp>
    </p:spTree>
    <p:extLst>
      <p:ext uri="{BB962C8B-B14F-4D97-AF65-F5344CB8AC3E}">
        <p14:creationId xmlns:p14="http://schemas.microsoft.com/office/powerpoint/2010/main" val="3998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3381"/>
            <a:ext cx="8229600" cy="1143000"/>
          </a:xfrm>
        </p:spPr>
        <p:txBody>
          <a:bodyPr/>
          <a:lstStyle/>
          <a:p>
            <a:r>
              <a:rPr lang="en-IN" b="1" dirty="0"/>
              <a:t>System Architecture</a:t>
            </a:r>
            <a:endParaRPr b="1" dirty="0"/>
          </a:p>
        </p:txBody>
      </p:sp>
      <p:sp>
        <p:nvSpPr>
          <p:cNvPr id="4" name="TextBox 3">
            <a:extLst>
              <a:ext uri="{FF2B5EF4-FFF2-40B4-BE49-F238E27FC236}">
                <a16:creationId xmlns:a16="http://schemas.microsoft.com/office/drawing/2014/main" id="{505C60A4-65DF-CC5F-499A-C1E13CC4E618}"/>
              </a:ext>
            </a:extLst>
          </p:cNvPr>
          <p:cNvSpPr txBox="1"/>
          <p:nvPr/>
        </p:nvSpPr>
        <p:spPr>
          <a:xfrm>
            <a:off x="342900" y="977666"/>
            <a:ext cx="3579081" cy="5478423"/>
          </a:xfrm>
          <a:prstGeom prst="rect">
            <a:avLst/>
          </a:prstGeom>
          <a:noFill/>
        </p:spPr>
        <p:txBody>
          <a:bodyPr wrap="square" rtlCol="0">
            <a:spAutoFit/>
          </a:bodyPr>
          <a:lstStyle/>
          <a:p>
            <a:r>
              <a:rPr lang="en-IN" sz="1000" dirty="0"/>
              <a:t> 	USER</a:t>
            </a:r>
          </a:p>
          <a:p>
            <a:r>
              <a:rPr lang="en-IN" sz="1000" dirty="0"/>
              <a:t>                          │</a:t>
            </a:r>
          </a:p>
          <a:p>
            <a:r>
              <a:rPr lang="en-IN" sz="1000" dirty="0"/>
              <a:t>                          ▼</a:t>
            </a:r>
          </a:p>
          <a:p>
            <a:r>
              <a:rPr lang="en-IN" sz="1000" dirty="0"/>
              <a:t>                 Keyboard Input</a:t>
            </a:r>
          </a:p>
          <a:p>
            <a:r>
              <a:rPr lang="en-IN" sz="1000" dirty="0"/>
              <a:t>                          │</a:t>
            </a:r>
          </a:p>
          <a:p>
            <a:r>
              <a:rPr lang="en-IN" sz="1000" dirty="0"/>
              <a:t>                          ▼</a:t>
            </a:r>
          </a:p>
          <a:p>
            <a:r>
              <a:rPr lang="en-IN" sz="1000" dirty="0"/>
              <a:t>          Browser Keyboard Event Listener(</a:t>
            </a:r>
            <a:r>
              <a:rPr lang="en-IN" sz="1000" b="1" dirty="0"/>
              <a:t>JavaScript Event Listener)</a:t>
            </a:r>
            <a:endParaRPr lang="en-IN" sz="1000" dirty="0"/>
          </a:p>
          <a:p>
            <a:r>
              <a:rPr lang="en-IN" sz="1000" dirty="0"/>
              <a:t>              (keydown / keyup events)</a:t>
            </a:r>
          </a:p>
          <a:p>
            <a:r>
              <a:rPr lang="en-IN" sz="1000" dirty="0"/>
              <a:t>                          │</a:t>
            </a:r>
          </a:p>
          <a:p>
            <a:r>
              <a:rPr lang="en-IN" sz="1000" dirty="0"/>
              <a:t>        ┌─────────────────┼─────────────────┐</a:t>
            </a:r>
          </a:p>
          <a:p>
            <a:r>
              <a:rPr lang="en-IN" sz="1000" dirty="0"/>
              <a:t>        │                 │                 │</a:t>
            </a:r>
          </a:p>
          <a:p>
            <a:r>
              <a:rPr lang="en-IN" sz="1000" dirty="0"/>
              <a:t>        ▼                 ▼                 ▼</a:t>
            </a:r>
          </a:p>
          <a:p>
            <a:r>
              <a:rPr lang="en-IN" sz="1000" dirty="0"/>
              <a:t>  Session Manager    Event Logger     Audio Engine</a:t>
            </a:r>
          </a:p>
          <a:p>
            <a:r>
              <a:rPr lang="en-IN" sz="1000" dirty="0"/>
              <a:t>(Start/Stop/Clear)   (Store Events)  (Web Audio API)</a:t>
            </a:r>
          </a:p>
          <a:p>
            <a:r>
              <a:rPr lang="en-IN" sz="1000" dirty="0"/>
              <a:t>        │                 │                 │</a:t>
            </a:r>
          </a:p>
          <a:p>
            <a:r>
              <a:rPr lang="en-IN" sz="1000" dirty="0"/>
              <a:t>        └──────────────┬──┴─────────────────┘</a:t>
            </a:r>
          </a:p>
          <a:p>
            <a:r>
              <a:rPr lang="en-IN" sz="1000" dirty="0"/>
              <a:t>                       │</a:t>
            </a:r>
          </a:p>
          <a:p>
            <a:r>
              <a:rPr lang="en-IN" sz="1000" dirty="0"/>
              <a:t>                       ▼</a:t>
            </a:r>
          </a:p>
          <a:p>
            <a:r>
              <a:rPr lang="en-IN" sz="1000" dirty="0"/>
              <a:t>               Analytics Engine</a:t>
            </a:r>
          </a:p>
          <a:p>
            <a:r>
              <a:rPr lang="en-IN" sz="1000" dirty="0"/>
              <a:t>       • Event Counter</a:t>
            </a:r>
          </a:p>
          <a:p>
            <a:r>
              <a:rPr lang="en-IN" sz="1000" dirty="0"/>
              <a:t>       • Duration Timer</a:t>
            </a:r>
          </a:p>
          <a:p>
            <a:r>
              <a:rPr lang="en-IN" sz="1000" dirty="0"/>
              <a:t>       • Keys Per Second (KPS)</a:t>
            </a:r>
          </a:p>
          <a:p>
            <a:r>
              <a:rPr lang="en-IN" sz="1000" dirty="0"/>
              <a:t>       • Key Frequency</a:t>
            </a:r>
          </a:p>
          <a:p>
            <a:r>
              <a:rPr lang="en-IN" sz="1000" dirty="0"/>
              <a:t>       • Modifier Key Status</a:t>
            </a:r>
          </a:p>
          <a:p>
            <a:r>
              <a:rPr lang="en-IN" sz="1000" dirty="0"/>
              <a:t>                       │</a:t>
            </a:r>
          </a:p>
          <a:p>
            <a:r>
              <a:rPr lang="en-IN" sz="1000" dirty="0"/>
              <a:t>                       ▼</a:t>
            </a:r>
          </a:p>
          <a:p>
            <a:r>
              <a:rPr lang="en-IN" sz="1000" dirty="0"/>
              <a:t>              Dashboard Interface</a:t>
            </a:r>
          </a:p>
          <a:p>
            <a:r>
              <a:rPr lang="en-IN" sz="1000" dirty="0"/>
              <a:t>      • Live Statistics</a:t>
            </a:r>
          </a:p>
          <a:p>
            <a:r>
              <a:rPr lang="en-IN" sz="1000" dirty="0"/>
              <a:t>      • Event Log</a:t>
            </a:r>
          </a:p>
          <a:p>
            <a:r>
              <a:rPr lang="en-IN" sz="1000" dirty="0"/>
              <a:t>      • Frequency Chart</a:t>
            </a:r>
          </a:p>
          <a:p>
            <a:r>
              <a:rPr lang="en-IN" sz="1000" dirty="0"/>
              <a:t>      • Theme Toggle</a:t>
            </a:r>
          </a:p>
          <a:p>
            <a:r>
              <a:rPr lang="en-IN" sz="1000" dirty="0"/>
              <a:t>                       │</a:t>
            </a:r>
          </a:p>
          <a:p>
            <a:r>
              <a:rPr lang="en-IN" sz="1000" dirty="0"/>
              <a:t>                       ▼</a:t>
            </a:r>
          </a:p>
          <a:p>
            <a:r>
              <a:rPr lang="en-IN" sz="1000" dirty="0"/>
              <a:t>                Export Module</a:t>
            </a:r>
          </a:p>
          <a:p>
            <a:r>
              <a:rPr lang="en-IN" sz="1000" dirty="0"/>
              <a:t>          TXT Report / JSON Report</a:t>
            </a:r>
          </a:p>
        </p:txBody>
      </p:sp>
      <p:sp>
        <p:nvSpPr>
          <p:cNvPr id="5" name="TextBox 4">
            <a:extLst>
              <a:ext uri="{FF2B5EF4-FFF2-40B4-BE49-F238E27FC236}">
                <a16:creationId xmlns:a16="http://schemas.microsoft.com/office/drawing/2014/main" id="{99040928-6ABE-75FF-BD6E-29DB0C36B37A}"/>
              </a:ext>
            </a:extLst>
          </p:cNvPr>
          <p:cNvSpPr txBox="1"/>
          <p:nvPr/>
        </p:nvSpPr>
        <p:spPr>
          <a:xfrm>
            <a:off x="5170714" y="2347079"/>
            <a:ext cx="3619500" cy="3139321"/>
          </a:xfrm>
          <a:prstGeom prst="rect">
            <a:avLst/>
          </a:prstGeom>
          <a:noFill/>
        </p:spPr>
        <p:txBody>
          <a:bodyPr wrap="square" rtlCol="0">
            <a:spAutoFit/>
          </a:bodyPr>
          <a:lstStyle/>
          <a:p>
            <a:r>
              <a:rPr lang="en-IN" b="1" dirty="0"/>
              <a:t>Working Overview</a:t>
            </a:r>
            <a:endParaRPr lang="en-IN" dirty="0"/>
          </a:p>
          <a:p>
            <a:r>
              <a:rPr lang="en-IN" dirty="0"/>
              <a:t>Keyboard events are captured using JavaScript event listeners. </a:t>
            </a:r>
          </a:p>
          <a:p>
            <a:r>
              <a:rPr lang="en-IN" dirty="0"/>
              <a:t>Events are processed by the Session Manager and Event Logger. </a:t>
            </a:r>
          </a:p>
          <a:p>
            <a:r>
              <a:rPr lang="en-IN" dirty="0"/>
              <a:t>The Analytics Engine calculates typing statistics and key frequency. </a:t>
            </a:r>
          </a:p>
          <a:p>
            <a:r>
              <a:rPr lang="en-IN" dirty="0"/>
              <a:t>The Dashboard displays live results and reports can be exported as TXT or JSON.</a:t>
            </a: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b="1" dirty="0"/>
              <a:t>Technology Stack</a:t>
            </a:r>
          </a:p>
        </p:txBody>
      </p:sp>
      <p:graphicFrame>
        <p:nvGraphicFramePr>
          <p:cNvPr id="4" name="Content Placeholder 3">
            <a:extLst>
              <a:ext uri="{FF2B5EF4-FFF2-40B4-BE49-F238E27FC236}">
                <a16:creationId xmlns:a16="http://schemas.microsoft.com/office/drawing/2014/main" id="{E4D71EEE-5513-A4B7-86C6-BFF818228907}"/>
              </a:ext>
            </a:extLst>
          </p:cNvPr>
          <p:cNvGraphicFramePr>
            <a:graphicFrameLocks noGrp="1"/>
          </p:cNvGraphicFramePr>
          <p:nvPr>
            <p:ph idx="1"/>
            <p:extLst>
              <p:ext uri="{D42A27DB-BD31-4B8C-83A1-F6EECF244321}">
                <p14:modId xmlns:p14="http://schemas.microsoft.com/office/powerpoint/2010/main" val="1592992771"/>
              </p:ext>
            </p:extLst>
          </p:nvPr>
        </p:nvGraphicFramePr>
        <p:xfrm>
          <a:off x="1005840" y="1820848"/>
          <a:ext cx="8229600" cy="3990400"/>
        </p:xfrm>
        <a:graphic>
          <a:graphicData uri="http://schemas.openxmlformats.org/drawingml/2006/table">
            <a:tbl>
              <a:tblPr/>
              <a:tblGrid>
                <a:gridCol w="4114800">
                  <a:extLst>
                    <a:ext uri="{9D8B030D-6E8A-4147-A177-3AD203B41FA5}">
                      <a16:colId xmlns:a16="http://schemas.microsoft.com/office/drawing/2014/main" val="1295578743"/>
                    </a:ext>
                  </a:extLst>
                </a:gridCol>
                <a:gridCol w="4114800">
                  <a:extLst>
                    <a:ext uri="{9D8B030D-6E8A-4147-A177-3AD203B41FA5}">
                      <a16:colId xmlns:a16="http://schemas.microsoft.com/office/drawing/2014/main" val="3122381072"/>
                    </a:ext>
                  </a:extLst>
                </a:gridCol>
              </a:tblGrid>
              <a:tr h="498800">
                <a:tc>
                  <a:txBody>
                    <a:bodyPr/>
                    <a:lstStyle/>
                    <a:p>
                      <a:pPr>
                        <a:buNone/>
                      </a:pPr>
                      <a:r>
                        <a:rPr lang="en-IN" sz="2400" b="1" dirty="0"/>
                        <a:t>Technology</a:t>
                      </a:r>
                    </a:p>
                  </a:txBody>
                  <a:tcPr anchor="ctr">
                    <a:lnL>
                      <a:noFill/>
                    </a:lnL>
                    <a:lnR>
                      <a:noFill/>
                    </a:lnR>
                    <a:lnT>
                      <a:noFill/>
                    </a:lnT>
                    <a:lnB>
                      <a:noFill/>
                    </a:lnB>
                    <a:noFill/>
                  </a:tcPr>
                </a:tc>
                <a:tc>
                  <a:txBody>
                    <a:bodyPr/>
                    <a:lstStyle/>
                    <a:p>
                      <a:pPr>
                        <a:buNone/>
                      </a:pPr>
                      <a:r>
                        <a:rPr lang="en-IN" sz="2400" b="1" dirty="0"/>
                        <a:t>Purpose</a:t>
                      </a:r>
                    </a:p>
                  </a:txBody>
                  <a:tcPr anchor="ctr">
                    <a:lnL>
                      <a:noFill/>
                    </a:lnL>
                    <a:lnR>
                      <a:noFill/>
                    </a:lnR>
                    <a:lnT>
                      <a:noFill/>
                    </a:lnT>
                    <a:lnB>
                      <a:noFill/>
                    </a:lnB>
                    <a:noFill/>
                  </a:tcPr>
                </a:tc>
                <a:extLst>
                  <a:ext uri="{0D108BD9-81ED-4DB2-BD59-A6C34878D82A}">
                    <a16:rowId xmlns:a16="http://schemas.microsoft.com/office/drawing/2014/main" val="3927729429"/>
                  </a:ext>
                </a:extLst>
              </a:tr>
              <a:tr h="498800">
                <a:tc>
                  <a:txBody>
                    <a:bodyPr/>
                    <a:lstStyle/>
                    <a:p>
                      <a:pPr>
                        <a:buNone/>
                      </a:pPr>
                      <a:r>
                        <a:rPr lang="en-IN"/>
                        <a:t>HTML5</a:t>
                      </a:r>
                    </a:p>
                  </a:txBody>
                  <a:tcPr anchor="ctr">
                    <a:lnL>
                      <a:noFill/>
                    </a:lnL>
                    <a:lnR>
                      <a:noFill/>
                    </a:lnR>
                    <a:lnT>
                      <a:noFill/>
                    </a:lnT>
                    <a:lnB>
                      <a:noFill/>
                    </a:lnB>
                    <a:noFill/>
                  </a:tcPr>
                </a:tc>
                <a:tc>
                  <a:txBody>
                    <a:bodyPr/>
                    <a:lstStyle/>
                    <a:p>
                      <a:pPr>
                        <a:buNone/>
                      </a:pPr>
                      <a:r>
                        <a:rPr lang="en-IN" dirty="0"/>
                        <a:t>User Interface Structure</a:t>
                      </a:r>
                    </a:p>
                  </a:txBody>
                  <a:tcPr anchor="ctr">
                    <a:lnL>
                      <a:noFill/>
                    </a:lnL>
                    <a:lnR>
                      <a:noFill/>
                    </a:lnR>
                    <a:lnT>
                      <a:noFill/>
                    </a:lnT>
                    <a:lnB>
                      <a:noFill/>
                    </a:lnB>
                    <a:noFill/>
                  </a:tcPr>
                </a:tc>
                <a:extLst>
                  <a:ext uri="{0D108BD9-81ED-4DB2-BD59-A6C34878D82A}">
                    <a16:rowId xmlns:a16="http://schemas.microsoft.com/office/drawing/2014/main" val="609544846"/>
                  </a:ext>
                </a:extLst>
              </a:tr>
              <a:tr h="498800">
                <a:tc>
                  <a:txBody>
                    <a:bodyPr/>
                    <a:lstStyle/>
                    <a:p>
                      <a:pPr>
                        <a:buNone/>
                      </a:pPr>
                      <a:r>
                        <a:rPr lang="en-IN"/>
                        <a:t>CSS3</a:t>
                      </a:r>
                    </a:p>
                  </a:txBody>
                  <a:tcPr anchor="ctr">
                    <a:lnL>
                      <a:noFill/>
                    </a:lnL>
                    <a:lnR>
                      <a:noFill/>
                    </a:lnR>
                    <a:lnT>
                      <a:noFill/>
                    </a:lnT>
                    <a:lnB>
                      <a:noFill/>
                    </a:lnB>
                    <a:noFill/>
                  </a:tcPr>
                </a:tc>
                <a:tc>
                  <a:txBody>
                    <a:bodyPr/>
                    <a:lstStyle/>
                    <a:p>
                      <a:pPr>
                        <a:buNone/>
                      </a:pPr>
                      <a:r>
                        <a:rPr lang="en-IN"/>
                        <a:t>Styling</a:t>
                      </a:r>
                    </a:p>
                  </a:txBody>
                  <a:tcPr anchor="ctr">
                    <a:lnL>
                      <a:noFill/>
                    </a:lnL>
                    <a:lnR>
                      <a:noFill/>
                    </a:lnR>
                    <a:lnT>
                      <a:noFill/>
                    </a:lnT>
                    <a:lnB>
                      <a:noFill/>
                    </a:lnB>
                    <a:noFill/>
                  </a:tcPr>
                </a:tc>
                <a:extLst>
                  <a:ext uri="{0D108BD9-81ED-4DB2-BD59-A6C34878D82A}">
                    <a16:rowId xmlns:a16="http://schemas.microsoft.com/office/drawing/2014/main" val="91921781"/>
                  </a:ext>
                </a:extLst>
              </a:tr>
              <a:tr h="498800">
                <a:tc>
                  <a:txBody>
                    <a:bodyPr/>
                    <a:lstStyle/>
                    <a:p>
                      <a:pPr>
                        <a:buNone/>
                      </a:pPr>
                      <a:r>
                        <a:rPr lang="en-IN" dirty="0"/>
                        <a:t>JavaScript</a:t>
                      </a:r>
                    </a:p>
                  </a:txBody>
                  <a:tcPr anchor="ctr">
                    <a:lnL>
                      <a:noFill/>
                    </a:lnL>
                    <a:lnR>
                      <a:noFill/>
                    </a:lnR>
                    <a:lnT>
                      <a:noFill/>
                    </a:lnT>
                    <a:lnB>
                      <a:noFill/>
                    </a:lnB>
                    <a:noFill/>
                  </a:tcPr>
                </a:tc>
                <a:tc>
                  <a:txBody>
                    <a:bodyPr/>
                    <a:lstStyle/>
                    <a:p>
                      <a:pPr>
                        <a:buNone/>
                      </a:pPr>
                      <a:r>
                        <a:rPr lang="en-IN"/>
                        <a:t>Application Logic</a:t>
                      </a:r>
                    </a:p>
                  </a:txBody>
                  <a:tcPr anchor="ctr">
                    <a:lnL>
                      <a:noFill/>
                    </a:lnL>
                    <a:lnR>
                      <a:noFill/>
                    </a:lnR>
                    <a:lnT>
                      <a:noFill/>
                    </a:lnT>
                    <a:lnB>
                      <a:noFill/>
                    </a:lnB>
                    <a:noFill/>
                  </a:tcPr>
                </a:tc>
                <a:extLst>
                  <a:ext uri="{0D108BD9-81ED-4DB2-BD59-A6C34878D82A}">
                    <a16:rowId xmlns:a16="http://schemas.microsoft.com/office/drawing/2014/main" val="683150680"/>
                  </a:ext>
                </a:extLst>
              </a:tr>
              <a:tr h="498800">
                <a:tc>
                  <a:txBody>
                    <a:bodyPr/>
                    <a:lstStyle/>
                    <a:p>
                      <a:pPr>
                        <a:buNone/>
                      </a:pPr>
                      <a:r>
                        <a:rPr lang="en-IN"/>
                        <a:t>Web Audio API</a:t>
                      </a:r>
                    </a:p>
                  </a:txBody>
                  <a:tcPr anchor="ctr">
                    <a:lnL>
                      <a:noFill/>
                    </a:lnL>
                    <a:lnR>
                      <a:noFill/>
                    </a:lnR>
                    <a:lnT>
                      <a:noFill/>
                    </a:lnT>
                    <a:lnB>
                      <a:noFill/>
                    </a:lnB>
                    <a:noFill/>
                  </a:tcPr>
                </a:tc>
                <a:tc>
                  <a:txBody>
                    <a:bodyPr/>
                    <a:lstStyle/>
                    <a:p>
                      <a:pPr>
                        <a:buNone/>
                      </a:pPr>
                      <a:r>
                        <a:rPr lang="en-IN"/>
                        <a:t>Keyboard Sound Effects</a:t>
                      </a:r>
                    </a:p>
                  </a:txBody>
                  <a:tcPr anchor="ctr">
                    <a:lnL>
                      <a:noFill/>
                    </a:lnL>
                    <a:lnR>
                      <a:noFill/>
                    </a:lnR>
                    <a:lnT>
                      <a:noFill/>
                    </a:lnT>
                    <a:lnB>
                      <a:noFill/>
                    </a:lnB>
                    <a:noFill/>
                  </a:tcPr>
                </a:tc>
                <a:extLst>
                  <a:ext uri="{0D108BD9-81ED-4DB2-BD59-A6C34878D82A}">
                    <a16:rowId xmlns:a16="http://schemas.microsoft.com/office/drawing/2014/main" val="4066288428"/>
                  </a:ext>
                </a:extLst>
              </a:tr>
              <a:tr h="498800">
                <a:tc>
                  <a:txBody>
                    <a:bodyPr/>
                    <a:lstStyle/>
                    <a:p>
                      <a:pPr>
                        <a:buNone/>
                      </a:pPr>
                      <a:r>
                        <a:rPr lang="en-IN"/>
                        <a:t>DOM API</a:t>
                      </a:r>
                    </a:p>
                  </a:txBody>
                  <a:tcPr anchor="ctr">
                    <a:lnL>
                      <a:noFill/>
                    </a:lnL>
                    <a:lnR>
                      <a:noFill/>
                    </a:lnR>
                    <a:lnT>
                      <a:noFill/>
                    </a:lnT>
                    <a:lnB>
                      <a:noFill/>
                    </a:lnB>
                    <a:noFill/>
                  </a:tcPr>
                </a:tc>
                <a:tc>
                  <a:txBody>
                    <a:bodyPr/>
                    <a:lstStyle/>
                    <a:p>
                      <a:pPr>
                        <a:buNone/>
                      </a:pPr>
                      <a:r>
                        <a:rPr lang="en-IN"/>
                        <a:t>UI Updates</a:t>
                      </a:r>
                    </a:p>
                  </a:txBody>
                  <a:tcPr anchor="ctr">
                    <a:lnL>
                      <a:noFill/>
                    </a:lnL>
                    <a:lnR>
                      <a:noFill/>
                    </a:lnR>
                    <a:lnT>
                      <a:noFill/>
                    </a:lnT>
                    <a:lnB>
                      <a:noFill/>
                    </a:lnB>
                    <a:noFill/>
                  </a:tcPr>
                </a:tc>
                <a:extLst>
                  <a:ext uri="{0D108BD9-81ED-4DB2-BD59-A6C34878D82A}">
                    <a16:rowId xmlns:a16="http://schemas.microsoft.com/office/drawing/2014/main" val="3999141779"/>
                  </a:ext>
                </a:extLst>
              </a:tr>
              <a:tr h="498800">
                <a:tc>
                  <a:txBody>
                    <a:bodyPr/>
                    <a:lstStyle/>
                    <a:p>
                      <a:pPr>
                        <a:buNone/>
                      </a:pPr>
                      <a:r>
                        <a:rPr lang="en-IN"/>
                        <a:t>Blob API</a:t>
                      </a:r>
                    </a:p>
                  </a:txBody>
                  <a:tcPr anchor="ctr">
                    <a:lnL>
                      <a:noFill/>
                    </a:lnL>
                    <a:lnR>
                      <a:noFill/>
                    </a:lnR>
                    <a:lnT>
                      <a:noFill/>
                    </a:lnT>
                    <a:lnB>
                      <a:noFill/>
                    </a:lnB>
                    <a:noFill/>
                  </a:tcPr>
                </a:tc>
                <a:tc>
                  <a:txBody>
                    <a:bodyPr/>
                    <a:lstStyle/>
                    <a:p>
                      <a:pPr>
                        <a:buNone/>
                      </a:pPr>
                      <a:r>
                        <a:rPr lang="en-IN"/>
                        <a:t>File Export</a:t>
                      </a:r>
                    </a:p>
                  </a:txBody>
                  <a:tcPr anchor="ctr">
                    <a:lnL>
                      <a:noFill/>
                    </a:lnL>
                    <a:lnR>
                      <a:noFill/>
                    </a:lnR>
                    <a:lnT>
                      <a:noFill/>
                    </a:lnT>
                    <a:lnB>
                      <a:noFill/>
                    </a:lnB>
                    <a:noFill/>
                  </a:tcPr>
                </a:tc>
                <a:extLst>
                  <a:ext uri="{0D108BD9-81ED-4DB2-BD59-A6C34878D82A}">
                    <a16:rowId xmlns:a16="http://schemas.microsoft.com/office/drawing/2014/main" val="991821884"/>
                  </a:ext>
                </a:extLst>
              </a:tr>
              <a:tr h="498800">
                <a:tc>
                  <a:txBody>
                    <a:bodyPr/>
                    <a:lstStyle/>
                    <a:p>
                      <a:pPr>
                        <a:buNone/>
                      </a:pPr>
                      <a:r>
                        <a:rPr lang="en-IN"/>
                        <a:t>Browser Events</a:t>
                      </a:r>
                    </a:p>
                  </a:txBody>
                  <a:tcPr anchor="ctr">
                    <a:lnL>
                      <a:noFill/>
                    </a:lnL>
                    <a:lnR>
                      <a:noFill/>
                    </a:lnR>
                    <a:lnT>
                      <a:noFill/>
                    </a:lnT>
                    <a:lnB>
                      <a:noFill/>
                    </a:lnB>
                    <a:noFill/>
                  </a:tcPr>
                </a:tc>
                <a:tc>
                  <a:txBody>
                    <a:bodyPr/>
                    <a:lstStyle/>
                    <a:p>
                      <a:pPr>
                        <a:buNone/>
                      </a:pPr>
                      <a:r>
                        <a:rPr lang="en-IN" dirty="0"/>
                        <a:t>Keyboard Event Detection</a:t>
                      </a:r>
                    </a:p>
                  </a:txBody>
                  <a:tcPr anchor="ctr">
                    <a:lnL>
                      <a:noFill/>
                    </a:lnL>
                    <a:lnR>
                      <a:noFill/>
                    </a:lnR>
                    <a:lnT>
                      <a:noFill/>
                    </a:lnT>
                    <a:lnB>
                      <a:noFill/>
                    </a:lnB>
                    <a:noFill/>
                  </a:tcPr>
                </a:tc>
                <a:extLst>
                  <a:ext uri="{0D108BD9-81ED-4DB2-BD59-A6C34878D82A}">
                    <a16:rowId xmlns:a16="http://schemas.microsoft.com/office/drawing/2014/main" val="283784556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9B840-03AD-BDD5-F092-65A6B96A5115}"/>
              </a:ext>
            </a:extLst>
          </p:cNvPr>
          <p:cNvSpPr>
            <a:spLocks noGrp="1"/>
          </p:cNvSpPr>
          <p:nvPr>
            <p:ph type="ctrTitle"/>
          </p:nvPr>
        </p:nvSpPr>
        <p:spPr>
          <a:xfrm>
            <a:off x="10886" y="24039"/>
            <a:ext cx="2509157" cy="1069975"/>
          </a:xfrm>
        </p:spPr>
        <p:txBody>
          <a:bodyPr>
            <a:noAutofit/>
          </a:bodyPr>
          <a:lstStyle/>
          <a:p>
            <a:r>
              <a:rPr lang="en-IN" sz="4000" b="1" dirty="0"/>
              <a:t>Modules</a:t>
            </a:r>
            <a:br>
              <a:rPr lang="en-IN" sz="4000" b="1" dirty="0"/>
            </a:br>
            <a:endParaRPr lang="en-IN" sz="4000" b="1" dirty="0"/>
          </a:p>
        </p:txBody>
      </p:sp>
      <p:sp>
        <p:nvSpPr>
          <p:cNvPr id="3" name="Subtitle 2">
            <a:extLst>
              <a:ext uri="{FF2B5EF4-FFF2-40B4-BE49-F238E27FC236}">
                <a16:creationId xmlns:a16="http://schemas.microsoft.com/office/drawing/2014/main" id="{85E55E4B-958F-B02C-CC95-CD4F002E9176}"/>
              </a:ext>
            </a:extLst>
          </p:cNvPr>
          <p:cNvSpPr>
            <a:spLocks noGrp="1"/>
          </p:cNvSpPr>
          <p:nvPr>
            <p:ph type="subTitle" idx="1"/>
          </p:nvPr>
        </p:nvSpPr>
        <p:spPr>
          <a:xfrm>
            <a:off x="221643" y="834461"/>
            <a:ext cx="4350357" cy="5189078"/>
          </a:xfrm>
        </p:spPr>
        <p:txBody>
          <a:bodyPr>
            <a:normAutofit/>
          </a:bodyPr>
          <a:lstStyle/>
          <a:p>
            <a:pPr algn="l"/>
            <a:r>
              <a:rPr lang="en-IN" b="1" dirty="0">
                <a:solidFill>
                  <a:schemeClr val="tx1">
                    <a:lumMod val="95000"/>
                    <a:lumOff val="5000"/>
                  </a:schemeClr>
                </a:solidFill>
              </a:rPr>
              <a:t>1.Session Module</a:t>
            </a:r>
            <a:br>
              <a:rPr lang="en-IN" b="1" dirty="0">
                <a:solidFill>
                  <a:schemeClr val="tx1">
                    <a:lumMod val="95000"/>
                    <a:lumOff val="5000"/>
                  </a:schemeClr>
                </a:solidFill>
              </a:rPr>
            </a:br>
            <a:r>
              <a:rPr lang="en-IN" b="1" dirty="0">
                <a:solidFill>
                  <a:schemeClr val="tx1">
                    <a:lumMod val="95000"/>
                    <a:lumOff val="5000"/>
                  </a:schemeClr>
                </a:solidFill>
              </a:rPr>
              <a:t>    </a:t>
            </a:r>
            <a:r>
              <a:rPr lang="en-IN" dirty="0">
                <a:solidFill>
                  <a:schemeClr val="tx1">
                    <a:lumMod val="95000"/>
                    <a:lumOff val="5000"/>
                  </a:schemeClr>
                </a:solidFill>
              </a:rPr>
              <a:t>Start Session </a:t>
            </a:r>
            <a:br>
              <a:rPr lang="en-IN" dirty="0">
                <a:solidFill>
                  <a:schemeClr val="tx1">
                    <a:lumMod val="95000"/>
                    <a:lumOff val="5000"/>
                  </a:schemeClr>
                </a:solidFill>
              </a:rPr>
            </a:br>
            <a:r>
              <a:rPr lang="en-IN" dirty="0">
                <a:solidFill>
                  <a:schemeClr val="tx1">
                    <a:lumMod val="95000"/>
                    <a:lumOff val="5000"/>
                  </a:schemeClr>
                </a:solidFill>
              </a:rPr>
              <a:t>    Stop Session </a:t>
            </a:r>
            <a:br>
              <a:rPr lang="en-IN" dirty="0">
                <a:solidFill>
                  <a:schemeClr val="tx1">
                    <a:lumMod val="95000"/>
                    <a:lumOff val="5000"/>
                  </a:schemeClr>
                </a:solidFill>
              </a:rPr>
            </a:br>
            <a:r>
              <a:rPr lang="en-IN" dirty="0">
                <a:solidFill>
                  <a:schemeClr val="tx1">
                    <a:lumMod val="95000"/>
                    <a:lumOff val="5000"/>
                  </a:schemeClr>
                </a:solidFill>
              </a:rPr>
              <a:t>    Clear Session </a:t>
            </a:r>
            <a:br>
              <a:rPr lang="en-IN" dirty="0">
                <a:solidFill>
                  <a:schemeClr val="tx1">
                    <a:lumMod val="95000"/>
                    <a:lumOff val="5000"/>
                  </a:schemeClr>
                </a:solidFill>
              </a:rPr>
            </a:br>
            <a:r>
              <a:rPr lang="en-IN" dirty="0">
                <a:solidFill>
                  <a:schemeClr val="tx1">
                    <a:lumMod val="95000"/>
                    <a:lumOff val="5000"/>
                  </a:schemeClr>
                </a:solidFill>
              </a:rPr>
              <a:t>2.</a:t>
            </a:r>
            <a:r>
              <a:rPr lang="en-IN" b="1" dirty="0">
                <a:solidFill>
                  <a:schemeClr val="tx1">
                    <a:lumMod val="95000"/>
                    <a:lumOff val="5000"/>
                  </a:schemeClr>
                </a:solidFill>
              </a:rPr>
              <a:t>Event Monitoring</a:t>
            </a:r>
            <a:br>
              <a:rPr lang="en-IN" b="1" dirty="0">
                <a:solidFill>
                  <a:schemeClr val="tx1">
                    <a:lumMod val="95000"/>
                    <a:lumOff val="5000"/>
                  </a:schemeClr>
                </a:solidFill>
              </a:rPr>
            </a:br>
            <a:r>
              <a:rPr lang="en-IN" b="1" dirty="0">
                <a:solidFill>
                  <a:schemeClr val="tx1">
                    <a:lumMod val="95000"/>
                    <a:lumOff val="5000"/>
                  </a:schemeClr>
                </a:solidFill>
              </a:rPr>
              <a:t>     </a:t>
            </a:r>
            <a:r>
              <a:rPr lang="en-IN" dirty="0">
                <a:solidFill>
                  <a:schemeClr val="tx1">
                    <a:lumMod val="95000"/>
                    <a:lumOff val="5000"/>
                  </a:schemeClr>
                </a:solidFill>
              </a:rPr>
              <a:t>Keydown </a:t>
            </a:r>
            <a:br>
              <a:rPr lang="en-IN" dirty="0">
                <a:solidFill>
                  <a:schemeClr val="tx1">
                    <a:lumMod val="95000"/>
                    <a:lumOff val="5000"/>
                  </a:schemeClr>
                </a:solidFill>
              </a:rPr>
            </a:br>
            <a:r>
              <a:rPr lang="en-IN" dirty="0">
                <a:solidFill>
                  <a:schemeClr val="tx1">
                    <a:lumMod val="95000"/>
                    <a:lumOff val="5000"/>
                  </a:schemeClr>
                </a:solidFill>
              </a:rPr>
              <a:t>     Keyup </a:t>
            </a:r>
            <a:br>
              <a:rPr lang="en-IN" dirty="0">
                <a:solidFill>
                  <a:schemeClr val="tx1">
                    <a:lumMod val="95000"/>
                    <a:lumOff val="5000"/>
                  </a:schemeClr>
                </a:solidFill>
              </a:rPr>
            </a:br>
            <a:r>
              <a:rPr lang="en-IN" dirty="0">
                <a:solidFill>
                  <a:schemeClr val="tx1">
                    <a:lumMod val="95000"/>
                    <a:lumOff val="5000"/>
                  </a:schemeClr>
                </a:solidFill>
              </a:rPr>
              <a:t>3.</a:t>
            </a:r>
            <a:r>
              <a:rPr lang="en-IN" b="1" dirty="0">
                <a:solidFill>
                  <a:schemeClr val="tx1">
                    <a:lumMod val="95000"/>
                    <a:lumOff val="5000"/>
                  </a:schemeClr>
                </a:solidFill>
              </a:rPr>
              <a:t>Statistics</a:t>
            </a:r>
            <a:br>
              <a:rPr lang="en-IN" b="1" dirty="0">
                <a:solidFill>
                  <a:schemeClr val="tx1">
                    <a:lumMod val="95000"/>
                    <a:lumOff val="5000"/>
                  </a:schemeClr>
                </a:solidFill>
              </a:rPr>
            </a:br>
            <a:r>
              <a:rPr lang="en-IN" b="1" dirty="0">
                <a:solidFill>
                  <a:schemeClr val="tx1">
                    <a:lumMod val="95000"/>
                    <a:lumOff val="5000"/>
                  </a:schemeClr>
                </a:solidFill>
              </a:rPr>
              <a:t>     </a:t>
            </a:r>
            <a:r>
              <a:rPr lang="en-IN" dirty="0">
                <a:solidFill>
                  <a:schemeClr val="tx1">
                    <a:lumMod val="95000"/>
                    <a:lumOff val="5000"/>
                  </a:schemeClr>
                </a:solidFill>
              </a:rPr>
              <a:t>Total Events </a:t>
            </a:r>
            <a:br>
              <a:rPr lang="en-IN" dirty="0">
                <a:solidFill>
                  <a:schemeClr val="tx1">
                    <a:lumMod val="95000"/>
                    <a:lumOff val="5000"/>
                  </a:schemeClr>
                </a:solidFill>
              </a:rPr>
            </a:br>
            <a:r>
              <a:rPr lang="en-IN" dirty="0">
                <a:solidFill>
                  <a:schemeClr val="tx1">
                    <a:lumMod val="95000"/>
                    <a:lumOff val="5000"/>
                  </a:schemeClr>
                </a:solidFill>
              </a:rPr>
              <a:t>     Session Duration </a:t>
            </a:r>
            <a:br>
              <a:rPr lang="en-IN" dirty="0">
                <a:solidFill>
                  <a:schemeClr val="tx1">
                    <a:lumMod val="95000"/>
                    <a:lumOff val="5000"/>
                  </a:schemeClr>
                </a:solidFill>
              </a:rPr>
            </a:br>
            <a:r>
              <a:rPr lang="en-IN" dirty="0">
                <a:solidFill>
                  <a:schemeClr val="tx1">
                    <a:lumMod val="95000"/>
                    <a:lumOff val="5000"/>
                  </a:schemeClr>
                </a:solidFill>
              </a:rPr>
              <a:t>     Keys Per Second </a:t>
            </a:r>
            <a:br>
              <a:rPr lang="en-IN" dirty="0">
                <a:solidFill>
                  <a:schemeClr val="tx1">
                    <a:lumMod val="95000"/>
                    <a:lumOff val="5000"/>
                  </a:schemeClr>
                </a:solidFill>
              </a:rPr>
            </a:br>
            <a:r>
              <a:rPr lang="en-IN" dirty="0">
                <a:solidFill>
                  <a:schemeClr val="tx1">
                    <a:lumMod val="95000"/>
                    <a:lumOff val="5000"/>
                  </a:schemeClr>
                </a:solidFill>
              </a:rPr>
              <a:t>4.</a:t>
            </a:r>
            <a:r>
              <a:rPr lang="en-IN" b="1" dirty="0">
                <a:solidFill>
                  <a:schemeClr val="tx1">
                    <a:lumMod val="95000"/>
                    <a:lumOff val="5000"/>
                  </a:schemeClr>
                </a:solidFill>
              </a:rPr>
              <a:t>Analytics</a:t>
            </a:r>
            <a:br>
              <a:rPr lang="en-IN" b="1" dirty="0">
                <a:solidFill>
                  <a:schemeClr val="tx1">
                    <a:lumMod val="95000"/>
                    <a:lumOff val="5000"/>
                  </a:schemeClr>
                </a:solidFill>
              </a:rPr>
            </a:br>
            <a:r>
              <a:rPr lang="en-IN" b="1" dirty="0">
                <a:solidFill>
                  <a:schemeClr val="tx1">
                    <a:lumMod val="95000"/>
                    <a:lumOff val="5000"/>
                  </a:schemeClr>
                </a:solidFill>
              </a:rPr>
              <a:t>     </a:t>
            </a:r>
            <a:r>
              <a:rPr lang="en-IN" dirty="0">
                <a:solidFill>
                  <a:schemeClr val="tx1">
                    <a:lumMod val="95000"/>
                    <a:lumOff val="5000"/>
                  </a:schemeClr>
                </a:solidFill>
              </a:rPr>
              <a:t>Key Frequency </a:t>
            </a:r>
            <a:br>
              <a:rPr lang="en-IN" dirty="0">
                <a:solidFill>
                  <a:schemeClr val="tx1">
                    <a:lumMod val="95000"/>
                    <a:lumOff val="5000"/>
                  </a:schemeClr>
                </a:solidFill>
              </a:rPr>
            </a:br>
            <a:r>
              <a:rPr lang="en-IN" dirty="0">
                <a:solidFill>
                  <a:schemeClr val="tx1">
                    <a:lumMod val="95000"/>
                    <a:lumOff val="5000"/>
                  </a:schemeClr>
                </a:solidFill>
              </a:rPr>
              <a:t>     Modifier Keys </a:t>
            </a:r>
            <a:br>
              <a:rPr lang="en-IN" dirty="0">
                <a:solidFill>
                  <a:schemeClr val="tx1">
                    <a:lumMod val="95000"/>
                    <a:lumOff val="5000"/>
                  </a:schemeClr>
                </a:solidFill>
              </a:rPr>
            </a:br>
            <a:r>
              <a:rPr lang="en-IN" dirty="0">
                <a:solidFill>
                  <a:schemeClr val="tx1">
                    <a:lumMod val="95000"/>
                    <a:lumOff val="5000"/>
                  </a:schemeClr>
                </a:solidFill>
              </a:rPr>
              <a:t>5.</a:t>
            </a:r>
            <a:r>
              <a:rPr lang="en-IN" b="1" dirty="0">
                <a:solidFill>
                  <a:schemeClr val="tx1">
                    <a:lumMod val="95000"/>
                    <a:lumOff val="5000"/>
                  </a:schemeClr>
                </a:solidFill>
              </a:rPr>
              <a:t>Export</a:t>
            </a:r>
            <a:br>
              <a:rPr lang="en-IN" b="1" dirty="0">
                <a:solidFill>
                  <a:schemeClr val="tx1">
                    <a:lumMod val="95000"/>
                    <a:lumOff val="5000"/>
                  </a:schemeClr>
                </a:solidFill>
              </a:rPr>
            </a:br>
            <a:r>
              <a:rPr lang="en-IN" b="1" dirty="0">
                <a:solidFill>
                  <a:schemeClr val="tx1">
                    <a:lumMod val="95000"/>
                    <a:lumOff val="5000"/>
                  </a:schemeClr>
                </a:solidFill>
              </a:rPr>
              <a:t>    </a:t>
            </a:r>
            <a:r>
              <a:rPr lang="en-IN" dirty="0">
                <a:solidFill>
                  <a:schemeClr val="tx1">
                    <a:lumMod val="95000"/>
                    <a:lumOff val="5000"/>
                  </a:schemeClr>
                </a:solidFill>
              </a:rPr>
              <a:t>TXT </a:t>
            </a:r>
            <a:br>
              <a:rPr lang="en-IN" dirty="0">
                <a:solidFill>
                  <a:schemeClr val="tx1">
                    <a:lumMod val="95000"/>
                    <a:lumOff val="5000"/>
                  </a:schemeClr>
                </a:solidFill>
              </a:rPr>
            </a:br>
            <a:r>
              <a:rPr lang="en-IN" dirty="0">
                <a:solidFill>
                  <a:schemeClr val="tx1">
                    <a:lumMod val="95000"/>
                    <a:lumOff val="5000"/>
                  </a:schemeClr>
                </a:solidFill>
              </a:rPr>
              <a:t>    JSON</a:t>
            </a:r>
            <a:endParaRPr lang="en-IN" dirty="0"/>
          </a:p>
        </p:txBody>
      </p:sp>
    </p:spTree>
    <p:extLst>
      <p:ext uri="{BB962C8B-B14F-4D97-AF65-F5344CB8AC3E}">
        <p14:creationId xmlns:p14="http://schemas.microsoft.com/office/powerpoint/2010/main" val="1723426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b="1" dirty="0"/>
              <a:t>Features</a:t>
            </a:r>
          </a:p>
        </p:txBody>
      </p:sp>
      <p:sp>
        <p:nvSpPr>
          <p:cNvPr id="3" name="Content Placeholder 2"/>
          <p:cNvSpPr>
            <a:spLocks noGrp="1"/>
          </p:cNvSpPr>
          <p:nvPr>
            <p:ph idx="1"/>
          </p:nvPr>
        </p:nvSpPr>
        <p:spPr>
          <a:xfrm>
            <a:off x="457200" y="1600200"/>
            <a:ext cx="3502550" cy="4525963"/>
          </a:xfrm>
        </p:spPr>
        <p:txBody>
          <a:bodyPr/>
          <a:lstStyle/>
          <a:p>
            <a:pPr>
              <a:defRPr sz="2200"/>
            </a:pPr>
            <a:r>
              <a:rPr lang="en-IN" dirty="0"/>
              <a:t>Live Keyboard Monitoring </a:t>
            </a:r>
          </a:p>
          <a:p>
            <a:pPr>
              <a:defRPr sz="2200"/>
            </a:pPr>
            <a:r>
              <a:rPr lang="en-IN" dirty="0"/>
              <a:t>Real-Time Statistics </a:t>
            </a:r>
          </a:p>
          <a:p>
            <a:pPr>
              <a:defRPr sz="2200"/>
            </a:pPr>
            <a:r>
              <a:rPr lang="en-IN" dirty="0"/>
              <a:t>Modifier Key Detection </a:t>
            </a:r>
          </a:p>
          <a:p>
            <a:pPr>
              <a:defRPr sz="2200"/>
            </a:pPr>
            <a:r>
              <a:rPr lang="en-IN" dirty="0"/>
              <a:t>Session Timer</a:t>
            </a:r>
          </a:p>
          <a:p>
            <a:pPr>
              <a:defRPr sz="2200"/>
            </a:pPr>
            <a:r>
              <a:rPr lang="en-IN" dirty="0"/>
              <a:t> Key Frequency Analysis</a:t>
            </a:r>
          </a:p>
          <a:p>
            <a:pPr>
              <a:defRPr sz="2200"/>
            </a:pPr>
            <a:r>
              <a:rPr lang="en-IN" dirty="0"/>
              <a:t> Interactive Dashboard </a:t>
            </a:r>
          </a:p>
          <a:p>
            <a:pPr>
              <a:defRPr sz="2200"/>
            </a:pPr>
            <a:r>
              <a:rPr lang="en-IN" dirty="0"/>
              <a:t>Keyboard Sound Profiles </a:t>
            </a:r>
          </a:p>
          <a:p>
            <a:pPr>
              <a:defRPr sz="2200"/>
            </a:pPr>
            <a:r>
              <a:rPr lang="en-IN" dirty="0"/>
              <a:t>Dark/Light Theme</a:t>
            </a:r>
          </a:p>
          <a:p>
            <a:pPr>
              <a:defRPr sz="2200"/>
            </a:pPr>
            <a:r>
              <a:rPr lang="en-IN" dirty="0"/>
              <a:t> TXT Export </a:t>
            </a:r>
          </a:p>
          <a:p>
            <a:pPr>
              <a:defRPr sz="2200"/>
            </a:pPr>
            <a:r>
              <a:rPr lang="en-IN" dirty="0"/>
              <a:t>JSON Export</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4076" y="0"/>
            <a:ext cx="7886700" cy="1325563"/>
          </a:xfrm>
        </p:spPr>
        <p:txBody>
          <a:bodyPr>
            <a:normAutofit/>
          </a:bodyPr>
          <a:lstStyle/>
          <a:p>
            <a:r>
              <a:rPr lang="en-IN" b="1" dirty="0"/>
              <a:t>Working Methodology</a:t>
            </a:r>
            <a:br>
              <a:rPr lang="en-IN" b="1" dirty="0"/>
            </a:br>
            <a:endParaRPr dirty="0"/>
          </a:p>
        </p:txBody>
      </p:sp>
      <p:sp>
        <p:nvSpPr>
          <p:cNvPr id="3" name="Content Placeholder 2"/>
          <p:cNvSpPr>
            <a:spLocks noGrp="1"/>
          </p:cNvSpPr>
          <p:nvPr>
            <p:ph idx="1"/>
          </p:nvPr>
        </p:nvSpPr>
        <p:spPr>
          <a:xfrm>
            <a:off x="314076" y="1129086"/>
            <a:ext cx="2540442" cy="5557962"/>
          </a:xfrm>
        </p:spPr>
        <p:txBody>
          <a:bodyPr>
            <a:noAutofit/>
          </a:bodyPr>
          <a:lstStyle/>
          <a:p>
            <a:pPr>
              <a:defRPr sz="2200"/>
            </a:pPr>
            <a:r>
              <a:rPr lang="en-IN" sz="600" b="1" dirty="0"/>
              <a:t>Start Application</a:t>
            </a:r>
          </a:p>
          <a:p>
            <a:pPr>
              <a:defRPr sz="2200"/>
            </a:pPr>
            <a:r>
              <a:rPr lang="en-IN" sz="600" b="1" dirty="0"/>
              <a:t>        │</a:t>
            </a:r>
          </a:p>
          <a:p>
            <a:pPr>
              <a:defRPr sz="2200"/>
            </a:pPr>
            <a:r>
              <a:rPr lang="en-IN" sz="600" b="1" dirty="0"/>
              <a:t>        ▼</a:t>
            </a:r>
          </a:p>
          <a:p>
            <a:pPr>
              <a:defRPr sz="2200"/>
            </a:pPr>
            <a:r>
              <a:rPr lang="en-IN" sz="600" b="1" dirty="0"/>
              <a:t>Start Session</a:t>
            </a:r>
          </a:p>
          <a:p>
            <a:pPr>
              <a:defRPr sz="2200"/>
            </a:pPr>
            <a:r>
              <a:rPr lang="en-IN" sz="600" b="1" dirty="0"/>
              <a:t>        │</a:t>
            </a:r>
          </a:p>
          <a:p>
            <a:pPr>
              <a:defRPr sz="2200"/>
            </a:pPr>
            <a:r>
              <a:rPr lang="en-IN" sz="600" b="1" dirty="0"/>
              <a:t>        ▼</a:t>
            </a:r>
          </a:p>
          <a:p>
            <a:pPr>
              <a:defRPr sz="2200"/>
            </a:pPr>
            <a:r>
              <a:rPr lang="en-IN" sz="600" b="1" dirty="0"/>
              <a:t>User Presses Keys</a:t>
            </a:r>
          </a:p>
          <a:p>
            <a:pPr>
              <a:defRPr sz="2200"/>
            </a:pPr>
            <a:r>
              <a:rPr lang="en-IN" sz="600" b="1" dirty="0"/>
              <a:t>        │</a:t>
            </a:r>
          </a:p>
          <a:p>
            <a:pPr>
              <a:defRPr sz="2200"/>
            </a:pPr>
            <a:r>
              <a:rPr lang="en-IN" sz="600" b="1" dirty="0"/>
              <a:t>        ▼</a:t>
            </a:r>
          </a:p>
          <a:p>
            <a:pPr>
              <a:defRPr sz="2200"/>
            </a:pPr>
            <a:r>
              <a:rPr lang="en-IN" sz="600" b="1" dirty="0"/>
              <a:t>Keyboard Event Captured</a:t>
            </a:r>
          </a:p>
          <a:p>
            <a:pPr>
              <a:defRPr sz="2200"/>
            </a:pPr>
            <a:r>
              <a:rPr lang="en-IN" sz="600" b="1" dirty="0"/>
              <a:t>(Keydown / Keyup)</a:t>
            </a:r>
          </a:p>
          <a:p>
            <a:pPr>
              <a:defRPr sz="2200"/>
            </a:pPr>
            <a:r>
              <a:rPr lang="en-IN" sz="600" b="1" dirty="0"/>
              <a:t>        │</a:t>
            </a:r>
          </a:p>
          <a:p>
            <a:pPr>
              <a:defRPr sz="2200"/>
            </a:pPr>
            <a:r>
              <a:rPr lang="en-IN" sz="600" b="1" dirty="0"/>
              <a:t>        ▼</a:t>
            </a:r>
          </a:p>
          <a:p>
            <a:pPr>
              <a:defRPr sz="2200"/>
            </a:pPr>
            <a:r>
              <a:rPr lang="en-IN" sz="600" b="1" dirty="0"/>
              <a:t>JavaScript Processes Events</a:t>
            </a:r>
          </a:p>
          <a:p>
            <a:pPr>
              <a:defRPr sz="2200"/>
            </a:pPr>
            <a:r>
              <a:rPr lang="en-IN" sz="600" b="1" dirty="0"/>
              <a:t>        │</a:t>
            </a:r>
          </a:p>
          <a:p>
            <a:pPr>
              <a:defRPr sz="2200"/>
            </a:pPr>
            <a:r>
              <a:rPr lang="en-IN" sz="600" b="1" dirty="0"/>
              <a:t>        ├──────────────┐</a:t>
            </a:r>
          </a:p>
          <a:p>
            <a:pPr>
              <a:defRPr sz="2200"/>
            </a:pPr>
            <a:r>
              <a:rPr lang="en-IN" sz="600" b="1" dirty="0"/>
              <a:t>        │              │</a:t>
            </a:r>
          </a:p>
          <a:p>
            <a:pPr>
              <a:defRPr sz="2200"/>
            </a:pPr>
            <a:r>
              <a:rPr lang="en-IN" sz="600" b="1" dirty="0"/>
              <a:t>        ▼              ▼</a:t>
            </a:r>
          </a:p>
          <a:p>
            <a:pPr>
              <a:defRPr sz="2200"/>
            </a:pPr>
            <a:r>
              <a:rPr lang="en-IN" sz="600" b="1" dirty="0"/>
              <a:t> Update Statistics   Log Events</a:t>
            </a:r>
          </a:p>
          <a:p>
            <a:pPr>
              <a:defRPr sz="2200"/>
            </a:pPr>
            <a:r>
              <a:rPr lang="en-IN" sz="600" b="1" dirty="0"/>
              <a:t>        │              │</a:t>
            </a:r>
          </a:p>
          <a:p>
            <a:pPr>
              <a:defRPr sz="2200"/>
            </a:pPr>
            <a:r>
              <a:rPr lang="en-IN" sz="600" b="1" dirty="0"/>
              <a:t>        └──────┬───────┘</a:t>
            </a:r>
          </a:p>
          <a:p>
            <a:pPr>
              <a:defRPr sz="2200"/>
            </a:pPr>
            <a:r>
              <a:rPr lang="en-IN" sz="600" b="1" dirty="0"/>
              <a:t>               │</a:t>
            </a:r>
          </a:p>
          <a:p>
            <a:pPr>
              <a:defRPr sz="2200"/>
            </a:pPr>
            <a:r>
              <a:rPr lang="en-IN" sz="600" b="1" dirty="0"/>
              <a:t>               ▼</a:t>
            </a:r>
          </a:p>
          <a:p>
            <a:pPr>
              <a:defRPr sz="2200"/>
            </a:pPr>
            <a:r>
              <a:rPr lang="en-IN" sz="600" b="1" dirty="0"/>
              <a:t>      Display Live Dashboard</a:t>
            </a:r>
          </a:p>
          <a:p>
            <a:pPr>
              <a:defRPr sz="2200"/>
            </a:pPr>
            <a:r>
              <a:rPr lang="en-IN" sz="600" b="1" dirty="0"/>
              <a:t>               │</a:t>
            </a:r>
          </a:p>
          <a:p>
            <a:pPr>
              <a:defRPr sz="2200"/>
            </a:pPr>
            <a:r>
              <a:rPr lang="en-IN" sz="600" b="1" dirty="0"/>
              <a:t>               ▼</a:t>
            </a:r>
          </a:p>
          <a:p>
            <a:pPr>
              <a:defRPr sz="2200"/>
            </a:pPr>
            <a:r>
              <a:rPr lang="en-IN" sz="600" b="1" dirty="0"/>
              <a:t>       Export TXT / JSON Report</a:t>
            </a:r>
          </a:p>
          <a:p>
            <a:pPr>
              <a:defRPr sz="2200"/>
            </a:pPr>
            <a:r>
              <a:rPr lang="en-IN" sz="600" b="1" dirty="0"/>
              <a:t>               │</a:t>
            </a:r>
          </a:p>
          <a:p>
            <a:pPr>
              <a:defRPr sz="2200"/>
            </a:pPr>
            <a:r>
              <a:rPr lang="en-IN" sz="600" b="1" dirty="0"/>
              <a:t>               ▼</a:t>
            </a:r>
          </a:p>
          <a:p>
            <a:pPr>
              <a:defRPr sz="2200"/>
            </a:pPr>
            <a:r>
              <a:rPr lang="en-IN" sz="600" b="1" dirty="0"/>
              <a:t>          End Session</a:t>
            </a:r>
            <a:endParaRPr sz="600" b="1" dirty="0"/>
          </a:p>
        </p:txBody>
      </p:sp>
      <p:sp>
        <p:nvSpPr>
          <p:cNvPr id="4" name="TextBox 3">
            <a:extLst>
              <a:ext uri="{FF2B5EF4-FFF2-40B4-BE49-F238E27FC236}">
                <a16:creationId xmlns:a16="http://schemas.microsoft.com/office/drawing/2014/main" id="{6B7CCE6E-7574-4B7B-138C-9F93439E1844}"/>
              </a:ext>
            </a:extLst>
          </p:cNvPr>
          <p:cNvSpPr txBox="1"/>
          <p:nvPr/>
        </p:nvSpPr>
        <p:spPr>
          <a:xfrm>
            <a:off x="4742338" y="2021240"/>
            <a:ext cx="4087586" cy="3231654"/>
          </a:xfrm>
          <a:prstGeom prst="rect">
            <a:avLst/>
          </a:prstGeom>
          <a:noFill/>
        </p:spPr>
        <p:txBody>
          <a:bodyPr wrap="square" rtlCol="0">
            <a:spAutoFit/>
          </a:bodyPr>
          <a:lstStyle/>
          <a:p>
            <a:r>
              <a:rPr lang="en-IN" sz="2400" b="1" dirty="0"/>
              <a:t>Explanation</a:t>
            </a:r>
          </a:p>
          <a:p>
            <a:pPr marL="285750" indent="-285750">
              <a:buFont typeface="Arial" panose="020B0604020202020204" pitchFamily="34" charset="0"/>
              <a:buChar char="•"/>
            </a:pPr>
            <a:r>
              <a:rPr lang="en-IN" dirty="0"/>
              <a:t>User starts a new monitoring session. </a:t>
            </a:r>
          </a:p>
          <a:p>
            <a:pPr marL="285750" indent="-285750">
              <a:buFont typeface="Arial" panose="020B0604020202020204" pitchFamily="34" charset="0"/>
              <a:buChar char="•"/>
            </a:pPr>
            <a:r>
              <a:rPr lang="en-IN" dirty="0"/>
              <a:t>Keyboard events are captured using JavaScript event listeners. </a:t>
            </a:r>
          </a:p>
          <a:p>
            <a:pPr marL="285750" indent="-285750">
              <a:buFont typeface="Arial" panose="020B0604020202020204" pitchFamily="34" charset="0"/>
              <a:buChar char="•"/>
            </a:pPr>
            <a:r>
              <a:rPr lang="en-IN" dirty="0"/>
              <a:t>The system updates statistics and stores event logs in real time. </a:t>
            </a:r>
          </a:p>
          <a:p>
            <a:pPr marL="285750" indent="-285750">
              <a:buFont typeface="Arial" panose="020B0604020202020204" pitchFamily="34" charset="0"/>
              <a:buChar char="•"/>
            </a:pPr>
            <a:r>
              <a:rPr lang="en-IN" dirty="0"/>
              <a:t>Analytics are displayed on the live dashboard. </a:t>
            </a:r>
          </a:p>
          <a:p>
            <a:pPr marL="285750" indent="-285750">
              <a:buFont typeface="Arial" panose="020B0604020202020204" pitchFamily="34" charset="0"/>
              <a:buChar char="•"/>
            </a:pPr>
            <a:r>
              <a:rPr lang="en-IN" dirty="0"/>
              <a:t>Users can export the session report in TXT or JSON format. </a:t>
            </a:r>
          </a:p>
          <a:p>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b="1" dirty="0"/>
              <a:t>Results</a:t>
            </a:r>
          </a:p>
        </p:txBody>
      </p:sp>
      <p:sp>
        <p:nvSpPr>
          <p:cNvPr id="3" name="Content Placeholder 2"/>
          <p:cNvSpPr>
            <a:spLocks noGrp="1"/>
          </p:cNvSpPr>
          <p:nvPr>
            <p:ph idx="1"/>
          </p:nvPr>
        </p:nvSpPr>
        <p:spPr>
          <a:xfrm>
            <a:off x="457200" y="1600200"/>
            <a:ext cx="3534356" cy="4525963"/>
          </a:xfrm>
        </p:spPr>
        <p:txBody>
          <a:bodyPr/>
          <a:lstStyle/>
          <a:p>
            <a:pPr marL="0" indent="0">
              <a:buNone/>
              <a:defRPr sz="2200"/>
            </a:pPr>
            <a:r>
              <a:rPr lang="en-IN" sz="2400" dirty="0"/>
              <a:t>The developed application successfully provides:-</a:t>
            </a:r>
          </a:p>
          <a:p>
            <a:pPr>
              <a:defRPr sz="2200"/>
            </a:pPr>
            <a:r>
              <a:rPr lang="en-IN" sz="2000" dirty="0"/>
              <a:t>Live Keyboard Monitoring </a:t>
            </a:r>
          </a:p>
          <a:p>
            <a:pPr>
              <a:defRPr sz="2200"/>
            </a:pPr>
            <a:r>
              <a:rPr lang="en-IN" sz="2000" dirty="0"/>
              <a:t>Session Statistics </a:t>
            </a:r>
          </a:p>
          <a:p>
            <a:pPr>
              <a:defRPr sz="2200"/>
            </a:pPr>
            <a:r>
              <a:rPr lang="en-IN" sz="2000" dirty="0"/>
              <a:t>Keyboard Analytics </a:t>
            </a:r>
          </a:p>
          <a:p>
            <a:pPr>
              <a:defRPr sz="2200"/>
            </a:pPr>
            <a:r>
              <a:rPr lang="en-IN" sz="2000" dirty="0"/>
              <a:t>Key Frequency Analysis </a:t>
            </a:r>
          </a:p>
          <a:p>
            <a:pPr>
              <a:defRPr sz="2200"/>
            </a:pPr>
            <a:r>
              <a:rPr lang="en-IN" sz="2000" dirty="0"/>
              <a:t>Event Logging </a:t>
            </a:r>
          </a:p>
          <a:p>
            <a:pPr>
              <a:defRPr sz="2200"/>
            </a:pPr>
            <a:r>
              <a:rPr lang="en-IN" sz="2000" dirty="0"/>
              <a:t>Export Functionality</a:t>
            </a:r>
            <a:br>
              <a:rPr sz="2000" dirty="0"/>
            </a:br>
            <a:r>
              <a:rPr sz="2000" dirty="0"/>
              <a:t>(Add screenshots</a:t>
            </a:r>
            <a:r>
              <a:rPr lang="en-IN" sz="2000" dirty="0"/>
              <a:t>)</a:t>
            </a:r>
            <a:endParaRPr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IN" b="1" dirty="0"/>
              <a:t>Future Improvements</a:t>
            </a:r>
            <a:endParaRPr b="1" dirty="0"/>
          </a:p>
        </p:txBody>
      </p:sp>
      <p:sp>
        <p:nvSpPr>
          <p:cNvPr id="3" name="Content Placeholder 2"/>
          <p:cNvSpPr>
            <a:spLocks noGrp="1"/>
          </p:cNvSpPr>
          <p:nvPr>
            <p:ph idx="1"/>
          </p:nvPr>
        </p:nvSpPr>
        <p:spPr>
          <a:xfrm>
            <a:off x="457200" y="1600200"/>
            <a:ext cx="4249972" cy="4525963"/>
          </a:xfrm>
        </p:spPr>
        <p:txBody>
          <a:bodyPr>
            <a:normAutofit/>
          </a:bodyPr>
          <a:lstStyle/>
          <a:p>
            <a:r>
              <a:rPr lang="en-IN" sz="2400" dirty="0"/>
              <a:t>AI Typing Analysis </a:t>
            </a:r>
          </a:p>
          <a:p>
            <a:r>
              <a:rPr lang="en-IN" sz="2400" dirty="0"/>
              <a:t>Keyboard Heatmap </a:t>
            </a:r>
          </a:p>
          <a:p>
            <a:r>
              <a:rPr lang="en-IN" sz="2400" dirty="0"/>
              <a:t>CSV Export </a:t>
            </a:r>
          </a:p>
          <a:p>
            <a:r>
              <a:rPr lang="en-IN" sz="2400" dirty="0"/>
              <a:t>PDF Reports </a:t>
            </a:r>
          </a:p>
          <a:p>
            <a:r>
              <a:rPr lang="en-IN" sz="2400" dirty="0"/>
              <a:t>User Authentication </a:t>
            </a:r>
          </a:p>
          <a:p>
            <a:r>
              <a:rPr lang="en-IN" sz="2400" dirty="0"/>
              <a:t>Cloud Storage </a:t>
            </a:r>
          </a:p>
          <a:p>
            <a:r>
              <a:rPr lang="en-IN" sz="2400" dirty="0"/>
              <a:t>Typing Accuracy Analysis </a:t>
            </a:r>
          </a:p>
          <a:p>
            <a:r>
              <a:rPr lang="en-IN" sz="2400" dirty="0"/>
              <a:t>Keyboard Shortcut Detection </a:t>
            </a:r>
          </a:p>
          <a:p>
            <a:r>
              <a:rPr lang="en-IN" sz="2400" dirty="0"/>
              <a:t>Behaviour Analytics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b="1" dirty="0"/>
              <a:t>Conclusion</a:t>
            </a:r>
          </a:p>
        </p:txBody>
      </p:sp>
      <p:sp>
        <p:nvSpPr>
          <p:cNvPr id="3" name="Content Placeholder 2"/>
          <p:cNvSpPr>
            <a:spLocks noGrp="1"/>
          </p:cNvSpPr>
          <p:nvPr>
            <p:ph idx="1"/>
          </p:nvPr>
        </p:nvSpPr>
        <p:spPr/>
        <p:txBody>
          <a:bodyPr>
            <a:normAutofit fontScale="77500" lnSpcReduction="20000"/>
          </a:bodyPr>
          <a:lstStyle/>
          <a:p>
            <a:pPr marL="0" indent="0">
              <a:buNone/>
            </a:pPr>
            <a:r>
              <a:rPr lang="en-IN" sz="3100" dirty="0"/>
              <a:t>KeyScope successfully demonstrates browser-based keyboard event monitoring and analytics.</a:t>
            </a:r>
          </a:p>
          <a:p>
            <a:pPr marL="0" indent="0">
              <a:buNone/>
            </a:pPr>
            <a:endParaRPr lang="en-IN" dirty="0"/>
          </a:p>
          <a:p>
            <a:pPr marL="0" indent="0">
              <a:buNone/>
            </a:pPr>
            <a:r>
              <a:rPr lang="en-IN" sz="3100" dirty="0"/>
              <a:t>The system provides:</a:t>
            </a:r>
          </a:p>
          <a:p>
            <a:r>
              <a:rPr lang="en-IN" sz="3100" dirty="0"/>
              <a:t>Real-time monitoring </a:t>
            </a:r>
          </a:p>
          <a:p>
            <a:r>
              <a:rPr lang="en-IN" sz="3100" dirty="0"/>
              <a:t>Event logging </a:t>
            </a:r>
          </a:p>
          <a:p>
            <a:r>
              <a:rPr lang="en-IN" sz="3100" dirty="0"/>
              <a:t>Typing statistics </a:t>
            </a:r>
          </a:p>
          <a:p>
            <a:r>
              <a:rPr lang="en-IN" sz="3100" dirty="0"/>
              <a:t>Exportable reports </a:t>
            </a:r>
          </a:p>
          <a:p>
            <a:r>
              <a:rPr lang="en-IN" sz="3100" dirty="0"/>
              <a:t>Interactive dashboard </a:t>
            </a:r>
          </a:p>
          <a:p>
            <a:pPr marL="0" indent="0">
              <a:buNone/>
            </a:pPr>
            <a:endParaRPr lang="en-IN" dirty="0"/>
          </a:p>
          <a:p>
            <a:pPr marL="0" indent="0">
              <a:buNone/>
            </a:pPr>
            <a:r>
              <a:rPr lang="en-IN" sz="3100" dirty="0"/>
              <a:t>The project serves as an educational platform for understanding browser keyboard events and user interaction.</a:t>
            </a:r>
          </a:p>
          <a:p>
            <a:pPr>
              <a:defRPr sz="2200"/>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4D814A4-A7AE-252A-7A23-CEE29DD36AE6}"/>
              </a:ext>
            </a:extLst>
          </p:cNvPr>
          <p:cNvSpPr txBox="1"/>
          <p:nvPr/>
        </p:nvSpPr>
        <p:spPr>
          <a:xfrm>
            <a:off x="1148443" y="1066801"/>
            <a:ext cx="7734300" cy="4524315"/>
          </a:xfrm>
          <a:prstGeom prst="rect">
            <a:avLst/>
          </a:prstGeom>
          <a:noFill/>
        </p:spPr>
        <p:txBody>
          <a:bodyPr wrap="square" rtlCol="0">
            <a:spAutoFit/>
          </a:bodyPr>
          <a:lstStyle/>
          <a:p>
            <a:r>
              <a:rPr lang="en-IN" sz="9600" b="1" dirty="0"/>
              <a:t>  THANKYOU</a:t>
            </a:r>
          </a:p>
          <a:p>
            <a:r>
              <a:rPr lang="en-IN" sz="9600" b="1" dirty="0"/>
              <a:t>    </a:t>
            </a:r>
            <a:r>
              <a:rPr lang="en-IN" sz="8800" b="1" dirty="0"/>
              <a:t>Questions?</a:t>
            </a:r>
          </a:p>
          <a:p>
            <a:endParaRPr lang="en-IN" sz="9600" dirty="0"/>
          </a:p>
        </p:txBody>
      </p:sp>
    </p:spTree>
    <p:extLst>
      <p:ext uri="{BB962C8B-B14F-4D97-AF65-F5344CB8AC3E}">
        <p14:creationId xmlns:p14="http://schemas.microsoft.com/office/powerpoint/2010/main" val="29769868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64</TotalTime>
  <Words>852</Words>
  <Application>Microsoft Office PowerPoint</Application>
  <PresentationFormat>On-screen Show (4:3)</PresentationFormat>
  <Paragraphs>192</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KeyScope</vt:lpstr>
      <vt:lpstr>Abstract</vt:lpstr>
      <vt:lpstr>Problem Statement</vt:lpstr>
      <vt:lpstr>Objectives</vt:lpstr>
      <vt:lpstr>Existing System</vt:lpstr>
      <vt:lpstr>PowerPoint Presentation</vt:lpstr>
      <vt:lpstr>System Architecture</vt:lpstr>
      <vt:lpstr>Technology Stack</vt:lpstr>
      <vt:lpstr>Modules </vt:lpstr>
      <vt:lpstr>Features</vt:lpstr>
      <vt:lpstr>Working Methodology </vt:lpstr>
      <vt:lpstr>Results</vt:lpstr>
      <vt:lpstr>Future Improvements</vt:lpstr>
      <vt:lpstr>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Narottam Kumar</dc:creator>
  <cp:keywords/>
  <dc:description>generated using python-pptx</dc:description>
  <cp:lastModifiedBy>Narottam Kumar</cp:lastModifiedBy>
  <cp:revision>2</cp:revision>
  <dcterms:created xsi:type="dcterms:W3CDTF">2013-01-27T09:14:16Z</dcterms:created>
  <dcterms:modified xsi:type="dcterms:W3CDTF">2026-07-24T19:31:07Z</dcterms:modified>
  <cp:category/>
</cp:coreProperties>
</file>